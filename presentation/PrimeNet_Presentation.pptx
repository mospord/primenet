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 w="12700">
            <a:solidFill>
              <a:srgbClr val="2A3D63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9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08960" y="1874519"/>
            <a:ext cx="3817620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874519"/>
            <a:ext cx="38176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INTERNAL OPERATIONS PLATFORM · MULTI-VENDOR 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0" b="1" i="0">
                <a:solidFill>
                  <a:srgbClr val="22D3EE"/>
                </a:solidFill>
                <a:latin typeface="Segoe UI"/>
              </a:rPr>
              <a:t>PrimeNet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AF2FF"/>
                </a:solidFill>
                <a:latin typeface="Segoe UI"/>
              </a:rPr>
              <a:t>Radio Network Performance &amp; Configuration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206240"/>
            <a:ext cx="9235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FB3D1"/>
                </a:solidFill>
                <a:latin typeface="Segoe UI"/>
              </a:rPr>
              <a:t>One governed workspace for performance intelligence, configuration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FB3D1"/>
                </a:solidFill>
                <a:latin typeface="Segoe UI"/>
              </a:rPr>
              <a:t>discipline, and daily tool access across Nokia &amp; Huawei networks.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32023" y="5074920"/>
            <a:ext cx="658368" cy="329184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2023" y="5074920"/>
            <a:ext cx="658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8BDF8"/>
                </a:solidFill>
                <a:latin typeface="Segoe UI"/>
              </a:rPr>
              <a:t>Nokia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0119" y="5074920"/>
            <a:ext cx="749808" cy="329184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0119" y="5074920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B7185"/>
                </a:solidFill>
                <a:latin typeface="Segoe UI"/>
              </a:rPr>
              <a:t>Huawei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59655" y="5074920"/>
            <a:ext cx="1755648" cy="329184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9655" y="5074920"/>
            <a:ext cx="17556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F2FF"/>
                </a:solidFill>
                <a:latin typeface="Segoe UI"/>
              </a:rPr>
              <a:t>2G · 3G · 4G · 5G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5031" y="5074920"/>
            <a:ext cx="658368" cy="329184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5031" y="5074920"/>
            <a:ext cx="658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F2FF"/>
                </a:solidFill>
                <a:latin typeface="Segoe UI"/>
              </a:rPr>
              <a:t>Flask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93127" y="5074920"/>
            <a:ext cx="749808" cy="329184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3127" y="5074920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F2FF"/>
                </a:solidFill>
                <a:latin typeface="Segoe UI"/>
              </a:rPr>
              <a:t>SQLite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2663" y="5074920"/>
            <a:ext cx="1207008" cy="329184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52663" y="5074920"/>
            <a:ext cx="12070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F2FF"/>
                </a:solidFill>
                <a:latin typeface="Segoe UI"/>
              </a:rPr>
              <a:t>APScheduler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D9C"/>
                </a:solidFill>
                <a:latin typeface="Segoe UI"/>
              </a:rPr>
              <a:t>Zain Jordan RAN context  ·  Executive &amp; stakeholder briefing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019556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195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Radio operations live in too many disconnected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61264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10+ separate tools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vendor OSS, assurance portals, drive-test, site DBs, spreadsheets.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Nokia &amp; Huawei data live apart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inconsistent KPI definitions slow decisions.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Manual exports &amp; merges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analysts spend hours reconciling before analysis.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No config discipline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nowhere to compare files, track tasks, retain history.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No unified picture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leadership lacks one view of sites by tech &amp; vendor.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783080"/>
            <a:ext cx="2423160" cy="192024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68312" y="1911096"/>
            <a:ext cx="209397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🧭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Context switching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Every incident means logging into multiple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783080"/>
            <a:ext cx="2423160" cy="192024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20072" y="1911096"/>
            <a:ext cx="209397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📑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Spreadsheet sprawl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Ad-hoc merges that don't agree with each other.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931920"/>
            <a:ext cx="2423160" cy="192024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68312" y="4059936"/>
            <a:ext cx="209397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⏱️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Slow to insight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Hours between data drop and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3931920"/>
            <a:ext cx="2423160" cy="192024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20072" y="4059936"/>
            <a:ext cx="209397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⚠️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Config drift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Undetected changes, no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One secure web platform that unifies the workflow</a:t>
            </a:r>
          </a:p>
        </p:txBody>
      </p:sp>
      <p:pic>
        <p:nvPicPr>
          <p:cNvPr id="7" name="Picture 6" descr="pipeline.png"/>
          <p:cNvPicPr>
            <a:picLocks noChangeAspect="1"/>
          </p:cNvPicPr>
          <p:nvPr/>
        </p:nvPicPr>
        <p:blipFill>
          <a:blip r:embed="rId2"/>
          <a:srcRect l="5814" r="5814"/>
          <a:stretch>
            <a:fillRect/>
          </a:stretch>
        </p:blipFill>
        <p:spPr>
          <a:xfrm>
            <a:off x="548640" y="1828800"/>
            <a:ext cx="5212080" cy="3931920"/>
          </a:xfrm>
          <a:prstGeom prst="rect">
            <a:avLst/>
          </a:prstGeom>
          <a:ln w="12700">
            <a:solidFill>
              <a:srgbClr val="2A3D6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26480" y="1874519"/>
            <a:ext cx="5486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Automates collection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of PM, grouping, neighbor, metadata &amp; small-cell data on hourly/daily schedules.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Stores &amp; serves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it through one dashboard with consistent KPI definitions across vendors.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Supports config discipline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lookup, convert, compare, schedule, version history.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Acts as an operations hub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live site metrics plus one-click launch of existing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5029200"/>
            <a:ext cx="5486400" cy="731520"/>
          </a:xfrm>
          <a:prstGeom prst="roundRect">
            <a:avLst>
              <a:gd name="adj" fmla="val 6000"/>
            </a:avLst>
          </a:prstGeom>
          <a:solidFill>
            <a:srgbClr val="0E2233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502920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FE9FF"/>
                </a:solidFill>
                <a:latin typeface="Segoe UI"/>
              </a:rPr>
              <a:t>PrimeNet complements vendor OSS — it does not replace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019556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195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A modular Flask monolith built for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2D3EE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9923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Feature blueprints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1168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212848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2D3EE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9923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Vendors unified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(Nokia · Huawei)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01168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212848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2D3EE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99923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Technologies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2G / 3G / 4G / 5G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01168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212848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2D3EE"/>
                </a:solidFill>
                <a:latin typeface="Segoe UI"/>
              </a:rPr>
              <a:t>7×24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99923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Automated hourly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+ daily ingest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3192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33088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2D3EE"/>
                </a:solidFill>
                <a:latin typeface="Segoe UI"/>
              </a:rPr>
              <a:t>8+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1947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SQLite data stores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(WAL, read-optimized)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93192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4133088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2D3EE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91947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Access roles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user → admin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93192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133088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2D3EE"/>
                </a:solidFill>
                <a:latin typeface="Segoe UI"/>
              </a:rPr>
              <a:t>SFTP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91947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Vendor feeds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+ REST / MML APIs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393192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4133088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2D3EE"/>
                </a:solidFill>
                <a:latin typeface="Segoe UI"/>
              </a:rPr>
              <a:t>KML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91947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+ Excel / XML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export formats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563624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5636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CAPABILITY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Three pillars, one workspace</a:t>
            </a:r>
          </a:p>
        </p:txBody>
      </p:sp>
      <p:pic>
        <p:nvPicPr>
          <p:cNvPr id="7" name="Picture 6" descr="pillars.png"/>
          <p:cNvPicPr>
            <a:picLocks noChangeAspect="1"/>
          </p:cNvPicPr>
          <p:nvPr/>
        </p:nvPicPr>
        <p:blipFill>
          <a:blip r:embed="rId2"/>
          <a:srcRect l="13566" r="13566"/>
          <a:stretch>
            <a:fillRect/>
          </a:stretch>
        </p:blipFill>
        <p:spPr>
          <a:xfrm>
            <a:off x="548640" y="1828800"/>
            <a:ext cx="4297680" cy="3931920"/>
          </a:xfrm>
          <a:prstGeom prst="rect">
            <a:avLst/>
          </a:prstGeom>
          <a:ln w="12700">
            <a:solidFill>
              <a:srgbClr val="2A3D63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120640" y="1828800"/>
            <a:ext cx="6492240" cy="114300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956816"/>
            <a:ext cx="6163056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📈  </a:t>
            </a:r>
            <a:r>
              <a:rPr sz="1500" b="1" i="0">
                <a:solidFill>
                  <a:srgbClr val="EAF2FF"/>
                </a:solidFill>
                <a:latin typeface="Segoe UI"/>
              </a:rPr>
              <a:t>Performance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KPI analytics &amp; trends · network map &amp; neighbors · reports · conflict / PCI views · Femto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3154680"/>
            <a:ext cx="6492240" cy="114300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85232" y="3282696"/>
            <a:ext cx="6163056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⚙️  </a:t>
            </a:r>
            <a:r>
              <a:rPr sz="1500" b="1" i="0">
                <a:solidFill>
                  <a:srgbClr val="EAF2FF"/>
                </a:solidFill>
                <a:latin typeface="Segoe UI"/>
              </a:rPr>
              <a:t>Configuration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Parameter dictionary · XML ⇄ Excel · NE compare · config tasks · version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4480560"/>
            <a:ext cx="6492240" cy="114300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4608576"/>
            <a:ext cx="6163056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B82F6"/>
                </a:solidFill>
                <a:latin typeface="Segoe UI"/>
              </a:rPr>
              <a:t>🛰️  </a:t>
            </a:r>
            <a:r>
              <a:rPr sz="1500" b="1" i="0">
                <a:solidFill>
                  <a:srgbClr val="EAF2FF"/>
                </a:solidFill>
                <a:latin typeface="Segoe UI"/>
              </a:rPr>
              <a:t>Operations Hub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Live site dashboard by tech &amp; vendor · external tool launcher · drive tests · admin &amp; data health.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641348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6413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Everything at a glance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241327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External Sources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SFTP feeds · CM/FM/PM REST &amp; MML · uploads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0896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0E2233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Ingestion Pipeline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Pull orchestrators → loaders + processors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91640"/>
            <a:ext cx="2834640" cy="868680"/>
          </a:xfrm>
          <a:prstGeom prst="roundRect">
            <a:avLst>
              <a:gd name="adj" fmla="val 6000"/>
            </a:avLst>
          </a:prstGeom>
          <a:solidFill>
            <a:srgbClr val="0C203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91640"/>
            <a:ext cx="2651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app.py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before / after hooks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697480"/>
            <a:ext cx="2834640" cy="868680"/>
          </a:xfrm>
          <a:prstGeom prst="roundRect">
            <a:avLst>
              <a:gd name="adj" fmla="val 6000"/>
            </a:avLst>
          </a:prstGeom>
          <a:solidFill>
            <a:srgbClr val="0C203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697480"/>
            <a:ext cx="2651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19 Feature Blueprints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performance · map · config · admin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703320"/>
            <a:ext cx="2834640" cy="868680"/>
          </a:xfrm>
          <a:prstGeom prst="roundRect">
            <a:avLst>
              <a:gd name="adj" fmla="val 6000"/>
            </a:avLst>
          </a:prstGeom>
          <a:solidFill>
            <a:srgbClr val="0C203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703320"/>
            <a:ext cx="2651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APScheduler + ncm_core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jobs · XML / Excel converters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691640"/>
            <a:ext cx="2331720" cy="713232"/>
          </a:xfrm>
          <a:prstGeom prst="roundRect">
            <a:avLst>
              <a:gd name="adj" fmla="val 6000"/>
            </a:avLst>
          </a:prstGeom>
          <a:solidFill>
            <a:srgbClr val="10182E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1691640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PM cells DBs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542032"/>
            <a:ext cx="2331720" cy="713232"/>
          </a:xfrm>
          <a:prstGeom prst="roundRect">
            <a:avLst>
              <a:gd name="adj" fmla="val 6000"/>
            </a:avLst>
          </a:prstGeom>
          <a:solidFill>
            <a:srgbClr val="10182E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542032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metadata.db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3392424"/>
            <a:ext cx="2331720" cy="713232"/>
          </a:xfrm>
          <a:prstGeom prst="roundRect">
            <a:avLst>
              <a:gd name="adj" fmla="val 6000"/>
            </a:avLst>
          </a:prstGeom>
          <a:solidFill>
            <a:srgbClr val="10182E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392424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neighbors / groups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4242816"/>
            <a:ext cx="2331720" cy="713232"/>
          </a:xfrm>
          <a:prstGeom prst="roundRect">
            <a:avLst>
              <a:gd name="adj" fmla="val 6000"/>
            </a:avLst>
          </a:prstGeom>
          <a:solidFill>
            <a:srgbClr val="10182E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242816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ncm_users.db + sync_log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2697480"/>
            <a:ext cx="224028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697480"/>
            <a:ext cx="2057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🌐 Web Browser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dashboards &amp; tools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017520" y="2697480"/>
            <a:ext cx="384048" cy="3657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6309360" y="2697480"/>
            <a:ext cx="384048" cy="3657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9098280" y="3017520"/>
            <a:ext cx="384048" cy="3657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FB3D1"/>
                </a:solidFill>
                <a:latin typeface="Segoe UI"/>
              </a:rPr>
              <a:t>Flask · SQLite-only · APScheduler background jobs · cookie-session auth · read-optimized for dashboards while writes happen.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252728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2527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From vendor file drop to analyst view — automatically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627632" cy="1280160"/>
          </a:xfrm>
          <a:prstGeom prst="roundRect">
            <a:avLst>
              <a:gd name="adj" fmla="val 6000"/>
            </a:avLst>
          </a:prstGeom>
          <a:solidFill>
            <a:srgbClr val="241327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468880"/>
            <a:ext cx="1481328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⏱️ Triggers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watcher · cron · admin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03120" y="2926080"/>
            <a:ext cx="292608" cy="3657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14016" y="2468880"/>
            <a:ext cx="1627632" cy="1280160"/>
          </a:xfrm>
          <a:prstGeom prst="roundRect">
            <a:avLst>
              <a:gd name="adj" fmla="val 6000"/>
            </a:avLst>
          </a:prstGeom>
          <a:solidFill>
            <a:srgbClr val="0E2233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2468880"/>
            <a:ext cx="1481328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Pull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SFTP download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59936" y="2926080"/>
            <a:ext cx="292608" cy="3657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2468880"/>
            <a:ext cx="1627632" cy="1280160"/>
          </a:xfrm>
          <a:prstGeom prst="roundRect">
            <a:avLst>
              <a:gd name="adj" fmla="val 6000"/>
            </a:avLst>
          </a:prstGeom>
          <a:solidFill>
            <a:srgbClr val="10182E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468880"/>
            <a:ext cx="1481328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Staging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sync_downloads · raw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16752" y="2926080"/>
            <a:ext cx="292608" cy="3657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27648" y="2468880"/>
            <a:ext cx="1627632" cy="1280160"/>
          </a:xfrm>
          <a:prstGeom prst="roundRect">
            <a:avLst>
              <a:gd name="adj" fmla="val 6000"/>
            </a:avLst>
          </a:prstGeom>
          <a:solidFill>
            <a:srgbClr val="0C203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1481328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Load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parse CSV/XLSX/ZIP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73568" y="2926080"/>
            <a:ext cx="292608" cy="3657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84464" y="2468880"/>
            <a:ext cx="1627632" cy="1280160"/>
          </a:xfrm>
          <a:prstGeom prst="roundRect">
            <a:avLst>
              <a:gd name="adj" fmla="val 6000"/>
            </a:avLst>
          </a:prstGeom>
          <a:solidFill>
            <a:srgbClr val="0C203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2468880"/>
            <a:ext cx="1481328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Processors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upsert · retention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930384" y="2926080"/>
            <a:ext cx="292608" cy="3657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41280" y="2468880"/>
            <a:ext cx="1627632" cy="1280160"/>
          </a:xfrm>
          <a:prstGeom prst="roundRect">
            <a:avLst>
              <a:gd name="adj" fmla="val 6000"/>
            </a:avLst>
          </a:prstGeom>
          <a:solidFill>
            <a:srgbClr val="10182E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14432" y="2468880"/>
            <a:ext cx="1481328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F2FF"/>
                </a:solidFill>
                <a:latin typeface="Segoe UI"/>
              </a:rPr>
              <a:t>SQLite + sync_log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→ Feature APIs → 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3484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43484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9FE9FF"/>
                </a:solidFill>
                <a:latin typeface="Segoe UI"/>
              </a:rPr>
              <a:t>Watcher-primary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poll signatures, pull+load on change (default)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43484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443484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9FE9FF"/>
                </a:solidFill>
                <a:latin typeface="Segoe UI"/>
              </a:rPr>
              <a:t>Legacy-periodic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hourly + daily full sync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43484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443484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9FE9FF"/>
                </a:solidFill>
                <a:latin typeface="Segoe UI"/>
              </a:rPr>
              <a:t>Manual-only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admin API triggers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2807208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28072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PILLAR 1 · PERFORMANCE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Hunt degradation. Compare vendors. Map the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11096"/>
            <a:ext cx="3282696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📊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KPI Analytics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Cell &amp; group trends, dynamic columns, saved filter profiles — the largest engine in the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8308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11096"/>
            <a:ext cx="3282696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🗺️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Network Map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Geospatial sites, sector wedges, per-cell KPIs, search by cell code, KML / CSV export.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78308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911096"/>
            <a:ext cx="3282696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🔗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Neighbor Analysis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Neighbor relation lines &amp; per-cell summaries from dedicated neighbor KPI databases.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01568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529584"/>
            <a:ext cx="3282696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📡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Conflict / PCI Map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Distance / bearing / sector-alignment risk scoring with strict→relaxed profiles.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3401568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529584"/>
            <a:ext cx="3282696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🏠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Femto PM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Small-cell device catalog, KPI columns, and formula-driven trend evaluation.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3401568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3529584"/>
            <a:ext cx="3282696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📋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Reports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Generate, download &amp; archive operational reports with metadata + elevation helpers.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1091672" cy="502920"/>
          </a:xfrm>
          <a:prstGeom prst="roundRect">
            <a:avLst>
              <a:gd name="adj" fmla="val 6000"/>
            </a:avLst>
          </a:prstGeom>
          <a:solidFill>
            <a:srgbClr val="0B1B2E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74920"/>
            <a:ext cx="110916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E9FF"/>
                </a:solidFill>
                <a:latin typeface="Segoe UI"/>
              </a:rPr>
              <a:t>/api/performance/cell/trend   ·   /api/map/cells/wedge-data   ·   /api/network-map/neighbors/lines   ·   /api/conflict-map/export-kml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2651760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PILLAR 2 · CONFIGURATION TOOLING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Safer changes with structured, auditable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0C2036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56816"/>
            <a:ext cx="3282696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XML Parser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XML → Excel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82880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0C2036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56816"/>
            <a:ext cx="3282696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Excel Generator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Excel → XML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82880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0C2036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956816"/>
            <a:ext cx="3282696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NE Comparison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diff 2 NE XMLs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72968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0E2233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300984"/>
            <a:ext cx="3282696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Config History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versions · diff · download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3172968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0E2233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300984"/>
            <a:ext cx="3282696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Task Scheduler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attachments · status ·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3172968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0E2233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3300984"/>
            <a:ext cx="3282696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Parameter Dictionary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MO lookup +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FB3D1"/>
                </a:solidFill>
                <a:latin typeface="Segoe UI"/>
              </a:rPr>
              <a:t>Top row powered by </a:t>
            </a:r>
            <a:r>
              <a:rPr sz="1200" b="1" i="0">
                <a:solidFill>
                  <a:srgbClr val="22D3EE"/>
                </a:solidFill>
                <a:latin typeface="Segoe UI"/>
              </a:rPr>
              <a:t>ncm_core</a:t>
            </a:r>
            <a:r>
              <a:rPr sz="1200" b="0" i="0">
                <a:solidFill>
                  <a:srgbClr val="9FB3D1"/>
                </a:solidFill>
                <a:latin typeface="Segoe UI"/>
              </a:rPr>
              <a:t> converters · bottom row is stateful, stored in the app database.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3520440" cy="8686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120640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D4BF"/>
                </a:solidFill>
                <a:latin typeface="Segoe UI"/>
              </a:rPr>
              <a:t>CONVERT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AF2FF"/>
                </a:solidFill>
                <a:latin typeface="Segoe UI"/>
              </a:rPr>
              <a:t>XML ⇄ Excel both directions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5120640"/>
            <a:ext cx="3520440" cy="8686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5120640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D4BF"/>
                </a:solidFill>
                <a:latin typeface="Segoe UI"/>
              </a:rPr>
              <a:t>COMPARE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AF2FF"/>
                </a:solidFill>
                <a:latin typeface="Segoe UI"/>
              </a:rPr>
              <a:t>before / after NE drift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120640"/>
            <a:ext cx="3520440" cy="8686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5120640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D4BF"/>
                </a:solidFill>
                <a:latin typeface="Segoe UI"/>
              </a:rPr>
              <a:t>TRACK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AF2FF"/>
                </a:solidFill>
                <a:latin typeface="Segoe UI"/>
              </a:rPr>
              <a:t>version &amp; schedule with traceability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2107692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21076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PILLAR 3 · OPERATIONS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The single front door for daily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6400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Live site dashboard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operational sites counted by RAT and vendor from active metadata.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External tool launcher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links to PRS, U2020, NetAct, NetChart, Nemo, TEMS.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Drive-test viewer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ingest GPX / NMFS field artifacts into map-ready traces.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Network management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browse sites &amp; cells, run PCI conflict checks over metadata.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Admin &amp; data health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manage users, monitor PM freshness, trigger syncs.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828800"/>
            <a:ext cx="2148840" cy="17830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084832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2D3EE"/>
                </a:solidFill>
                <a:latin typeface="Segoe UI"/>
              </a:rPr>
              <a:t>🛰️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Operational sites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by tech &amp; vendor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8048" y="1828800"/>
            <a:ext cx="2148840" cy="17830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2084832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2D3EE"/>
                </a:solidFill>
                <a:latin typeface="Segoe UI"/>
              </a:rPr>
              <a:t>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One-click external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OSS / NMS launch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3813048"/>
            <a:ext cx="2148840" cy="17830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40690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2D3EE"/>
                </a:solidFill>
                <a:latin typeface="Segoe UI"/>
              </a:rPr>
              <a:t>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81888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Drive-test trace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visualization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8" y="3813048"/>
            <a:ext cx="2148840" cy="17830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40690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2D3EE"/>
                </a:solidFill>
                <a:latin typeface="Segoe UI"/>
              </a:rPr>
              <a:t>❤️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481888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PM freshness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FB3D1"/>
                </a:solidFill>
                <a:latin typeface="Segoe UI"/>
              </a:rPr>
              <a:t>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796796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7967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SECURITY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Controlled access, full accountability</a:t>
            </a:r>
          </a:p>
        </p:txBody>
      </p:sp>
      <p:pic>
        <p:nvPicPr>
          <p:cNvPr id="7" name="Picture 6" descr="security.png"/>
          <p:cNvPicPr>
            <a:picLocks noChangeAspect="1"/>
          </p:cNvPicPr>
          <p:nvPr/>
        </p:nvPicPr>
        <p:blipFill>
          <a:blip r:embed="rId2"/>
          <a:srcRect l="7364" r="7364"/>
          <a:stretch>
            <a:fillRect/>
          </a:stretch>
        </p:blipFill>
        <p:spPr>
          <a:xfrm>
            <a:off x="548640" y="1828800"/>
            <a:ext cx="5029200" cy="3931920"/>
          </a:xfrm>
          <a:prstGeom prst="rect">
            <a:avLst/>
          </a:prstGeom>
          <a:ln w="12700">
            <a:solidFill>
              <a:srgbClr val="2A3D6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943600" y="1874519"/>
            <a:ext cx="56692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Role-based access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user → operator → NOC/systems → administrator.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Server-side sessions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httponly token cookie, expiry &amp; active-user checks.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Password policy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60-day rotation enforced via before-request gate.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CSRF + input sanitization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on every state-changing request.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Activity logging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&amp; optional license activation for production.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2FF"/>
                </a:solidFill>
                <a:latin typeface="Segoe UI"/>
              </a:rPr>
              <a:t>Registration disabled</a:t>
            </a:r>
            <a:r>
              <a:rPr sz="1250" b="0" i="0">
                <a:solidFill>
                  <a:srgbClr val="9FB3D1"/>
                </a:solidFill>
                <a:latin typeface="Segoe UI"/>
              </a:rPr>
              <a:t> — provisioned accounts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5440680"/>
            <a:ext cx="1207008" cy="329184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5440680"/>
            <a:ext cx="12070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F2FF"/>
                </a:solidFill>
                <a:latin typeface="Segoe UI"/>
              </a:rPr>
              <a:t>CSP headers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5440680"/>
            <a:ext cx="1115568" cy="329184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0336" y="5440680"/>
            <a:ext cx="11155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F2FF"/>
                </a:solidFill>
                <a:latin typeface="Segoe UI"/>
              </a:rPr>
              <a:t>SQLite WAL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85632" y="5440680"/>
            <a:ext cx="1481328" cy="329184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5440680"/>
            <a:ext cx="1481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F2FF"/>
                </a:solidFill>
                <a:latin typeface="Segoe UI"/>
              </a:rPr>
              <a:t>sync_log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76688" y="5440680"/>
            <a:ext cx="1298448" cy="329184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76688" y="5440680"/>
            <a:ext cx="12984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F2FF"/>
                </a:solidFill>
                <a:latin typeface="Segoe UI"/>
              </a:rPr>
              <a:t>License gate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252728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2527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UNDER THE 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56816"/>
            <a:ext cx="236829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🐍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Flask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Modular monolith; one blueprint per feature area.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182880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956816"/>
            <a:ext cx="236829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🗄️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SQLite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WAL mode, busy-timeout, attach-based reads.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182880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956816"/>
            <a:ext cx="236829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⏰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APScheduler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Watcher, hourly &amp; daily ingest jobs.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6024" y="182880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0616" y="1956816"/>
            <a:ext cx="236829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🔐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Sessions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DB-backed tokens, salted hashing, roles.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84448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712464"/>
            <a:ext cx="236829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📂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SFTP / Paramiko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Vendor PM, metadata &amp; neighbor feeds.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38728" y="3584448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3712464"/>
            <a:ext cx="236829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🔄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ncm_core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Shared XML / Excel converters &amp; comparators.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37376" y="3584448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3712464"/>
            <a:ext cx="236829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🐳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Docker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Web + scheduler services, Gunicorn, healthchecks.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36024" y="3584448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0616" y="3712464"/>
            <a:ext cx="236829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🤖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Optional AI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3D1"/>
                </a:solidFill>
                <a:latin typeface="Segoe UI"/>
              </a:rPr>
              <a:t>OpenAI-backed parameter summaries (fallback safe).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FB3D1"/>
                </a:solidFill>
                <a:latin typeface="Segoe UI"/>
              </a:rPr>
              <a:t>Deployed as two containers — </a:t>
            </a:r>
            <a:r>
              <a:rPr sz="1200" b="1" i="0">
                <a:solidFill>
                  <a:srgbClr val="22D3EE"/>
                </a:solidFill>
                <a:latin typeface="Segoe UI"/>
              </a:rPr>
              <a:t>primenet-web</a:t>
            </a:r>
            <a:r>
              <a:rPr sz="1200" b="0" i="0">
                <a:solidFill>
                  <a:srgbClr val="9FB3D1"/>
                </a:solidFill>
                <a:latin typeface="Segoe UI"/>
              </a:rPr>
              <a:t> (Gunicorn) and </a:t>
            </a:r>
            <a:r>
              <a:rPr sz="1200" b="1" i="0">
                <a:solidFill>
                  <a:srgbClr val="22D3EE"/>
                </a:solidFill>
                <a:latin typeface="Segoe UI"/>
              </a:rPr>
              <a:t>primenet-scheduler</a:t>
            </a:r>
            <a:r>
              <a:rPr sz="1200" b="0" i="0">
                <a:solidFill>
                  <a:srgbClr val="9FB3D1"/>
                </a:solidFill>
                <a:latin typeface="Segoe UI"/>
              </a:rPr>
              <a:t> — sharing one data volume.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330452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3304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FEATURE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19 blueprints, one coherent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874520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Performance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KPI analytics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1783080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874520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Network Map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Sites · wedges · KPIs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9784" y="1783080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874520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Neighbor Analysis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Relation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1783080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2" y="1874520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Cell Heatmap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Spatial KPI heat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56648" y="1783080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84664" y="1874520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Conflict Map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PCI risk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70632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2862072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Femto PM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Small-cell 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16352" y="2770632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4368" y="2862072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Reports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Generate &amp; archive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9784" y="2770632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2862072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Parameter Dict.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MO lookup + 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6" y="2770632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2" y="2862072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XML Parser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XML → Excel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6648" y="2770632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84664" y="2862072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Excel Generator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Excel → XML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758184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849624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NE Comparison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Diff NE XMLs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6352" y="3758184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44368" y="3849624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Config History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Versions &amp; diff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9784" y="3758184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3849624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Task Scheduler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Config task 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43216" y="3758184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71232" y="3849624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RAN Features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Feature reference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56648" y="3758184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84664" y="3849624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Network Mgmt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Sites &amp; cells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745736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4837176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Drive-Test Viewer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GPX / NMFS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16352" y="4745736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44368" y="4837176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User Profile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Prefs &amp; activity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9784" y="4745736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4837176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Admin Panel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Users &amp; freshness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43216" y="4745736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71232" y="4837176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Sync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Pipeline triggers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56648" y="4745736"/>
            <a:ext cx="2148840" cy="841248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84664" y="4837176"/>
            <a:ext cx="192938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F2FF"/>
                </a:solidFill>
                <a:latin typeface="Segoe UI"/>
              </a:rPr>
              <a:t>Auth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FB3D1"/>
                </a:solidFill>
                <a:latin typeface="Segoe UI"/>
              </a:rPr>
              <a:t>Login ·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2185416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21854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MATURITY — HONEST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Shipping today, building tomorrow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11680"/>
            <a:ext cx="320954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● PRODUCTION TODAY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2DD4BF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Live in operations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2DD4BF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FB3D1"/>
                </a:solidFill>
                <a:latin typeface="Segoe UI"/>
              </a:rPr>
              <a:t>KPI analytics · network map · neighbor analysis · reports · conflict map · Femto PM · parameter dictionary · XML/Excel tooling · NE compare · config tasks &amp; history · dashboard · external tools · drive test · network mgmt ·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82880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011680"/>
            <a:ext cx="320954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0A5FA"/>
                </a:solidFill>
                <a:latin typeface="Segoe UI"/>
              </a:rPr>
              <a:t>◐ IN DEVELOPMENT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60A5FA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Coming next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60A5FA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FB3D1"/>
                </a:solidFill>
                <a:latin typeface="Segoe UI"/>
              </a:rPr>
              <a:t>Cell heatmap · SON analytics · network health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82880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19050">
            <a:solidFill>
              <a:srgbClr val="9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011680"/>
            <a:ext cx="320954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FB3D1"/>
                </a:solidFill>
                <a:latin typeface="Segoe UI"/>
              </a:rPr>
              <a:t>○ PLANNED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9FB3D1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On the roadmap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9FB3D1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FB3D1"/>
                </a:solidFill>
                <a:latin typeface="Segoe UI"/>
              </a:rPr>
              <a:t>RAN features catalog · OpenAPI reference · per-DB data dictionary · deployment playbook &amp; incident runbooks.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1408176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4081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OUTCOMES &amp;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</a:rPr>
              <a:t>Measurable wins — without displacing vendor investments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56816"/>
            <a:ext cx="5111496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⚡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Time to insight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KPI trends &amp; maps minutes after data lands — fewer manual exports.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956816"/>
            <a:ext cx="5111496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🤝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Cross-vendor consistency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One platform, one set of KPI definitions for Nokia &amp; Huawei.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602736"/>
            <a:ext cx="5111496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👁️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Operational visibility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Live footprint by RAT &amp; vendor; admins watch data freshness.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47472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602736"/>
            <a:ext cx="5111496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🛡️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Configuration quality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Structured compare / convert reduces undetected config drift.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2064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248656"/>
            <a:ext cx="5111496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🧹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Less tool sprawl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A single entry point plus curated launchers for daily systems.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512064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142138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5248656"/>
            <a:ext cx="5111496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📜  </a:t>
            </a:r>
            <a:r>
              <a:rPr sz="1400" b="1" i="0">
                <a:solidFill>
                  <a:srgbClr val="EAF2FF"/>
                </a:solidFill>
                <a:latin typeface="Segoe UI"/>
              </a:rPr>
              <a:t>Governance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Roles, session security, password policy, activity logging.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 w="12700">
            <a:solidFill>
              <a:srgbClr val="2A3D63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9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80" y="1097280"/>
            <a:ext cx="941832" cy="310896"/>
          </a:xfrm>
          <a:prstGeom prst="roundRect">
            <a:avLst>
              <a:gd name="adj" fmla="val 6000"/>
            </a:avLst>
          </a:prstGeom>
          <a:solidFill>
            <a:srgbClr val="102A4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097280"/>
            <a:ext cx="9418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2D3EE"/>
                </a:solidFill>
                <a:latin typeface="Segoe UI"/>
              </a:rPr>
              <a:t>One front door for RAN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9235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PrimeNet turns fragmented radio operations into a single, governed workspace for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performance intelligence, configuration support, and daily tool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6587" y="41148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467" y="429768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1 · Endorse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Adopt PrimeNet as the standard internal entry 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5627" y="41148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507" y="429768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2 · Align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Set data-freshness SLAs — hourly PM, daily deep sync.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4667" y="41148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7547" y="429768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3 · Prioritize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FB3D1"/>
                </a:solidFill>
                <a:latin typeface="Segoe UI"/>
              </a:rPr>
              <a:t>Network health, SON analytics, cell heatmap.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D9C"/>
                </a:solidFill>
                <a:latin typeface="Segoe UI"/>
              </a:rPr>
              <a:t>PrimeNet · Radio Network Performance &amp; Configuration Platform ·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