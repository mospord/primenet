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545177" y="1034523"/>
            <a:ext cx="1402893" cy="7855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948070" y="360563"/>
            <a:ext cx="197760" cy="67396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7182414" y="496768"/>
            <a:ext cx="753580" cy="130514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7935994" y="370283"/>
            <a:ext cx="308031" cy="12648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86541" y="496768"/>
            <a:ext cx="449453" cy="52199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33310" y="2507894"/>
            <a:ext cx="502553" cy="21254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533310" y="2507894"/>
            <a:ext cx="1256128" cy="4600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525085" y="2055802"/>
            <a:ext cx="1008225" cy="4520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33310" y="1801916"/>
            <a:ext cx="649104" cy="70597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457135" y="2973942"/>
            <a:ext cx="249970" cy="50605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78002" y="3479994"/>
            <a:ext cx="229103" cy="110263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275080" y="3166306"/>
            <a:ext cx="432025" cy="31368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57135" y="1412464"/>
            <a:ext cx="269504" cy="156147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135" y="2973942"/>
            <a:ext cx="1395814" cy="37936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135" y="2973942"/>
            <a:ext cx="20867" cy="160868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49907" y="2873135"/>
            <a:ext cx="407228" cy="10080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7135" y="2973942"/>
            <a:ext cx="805157" cy="137601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1656" y="622109"/>
            <a:ext cx="1296736" cy="96865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844" y="622109"/>
            <a:ext cx="848812" cy="41526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3760916" y="5596994"/>
            <a:ext cx="1414692" cy="7355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75608" y="5670551"/>
            <a:ext cx="1227427" cy="33114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097625" y="5192472"/>
            <a:ext cx="77983" cy="47807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175608" y="4554755"/>
            <a:ext cx="604454" cy="111579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75608" y="5670551"/>
            <a:ext cx="1522995" cy="38769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509355" y="803042"/>
            <a:ext cx="539439" cy="72793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09355" y="1530972"/>
            <a:ext cx="67521" cy="16717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982422" y="1530972"/>
            <a:ext cx="526933" cy="154955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09355" y="1530972"/>
            <a:ext cx="639037" cy="5978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758906" y="461869"/>
            <a:ext cx="750449" cy="106910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6403035" y="6001692"/>
            <a:ext cx="1246439" cy="49769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35863" y="2553902"/>
            <a:ext cx="753575" cy="16653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284714" y="2720434"/>
            <a:ext cx="751149" cy="151501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902204" y="319464"/>
            <a:ext cx="47788" cy="49023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8893174" y="1974677"/>
            <a:ext cx="1573011" cy="1146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466185" y="1035015"/>
            <a:ext cx="1210181" cy="95112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26639" y="807819"/>
            <a:ext cx="1032075" cy="60464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758714" y="807819"/>
            <a:ext cx="389678" cy="78294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758906" y="461869"/>
            <a:ext cx="999808" cy="34595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58714" y="807819"/>
            <a:ext cx="786463" cy="30525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760916" y="4585620"/>
            <a:ext cx="942535" cy="101137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03360" y="3939397"/>
            <a:ext cx="772590" cy="4921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39663" y="3988613"/>
            <a:ext cx="1463697" cy="82221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982422" y="3080527"/>
            <a:ext cx="1220938" cy="9080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789438" y="1974677"/>
            <a:ext cx="1103736" cy="57922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7182414" y="1801916"/>
            <a:ext cx="607024" cy="7519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7486541" y="1018759"/>
            <a:ext cx="302897" cy="153514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77933" y="430606"/>
            <a:ext cx="504481" cy="137131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677933" y="370283"/>
            <a:ext cx="1566092" cy="6032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726639" y="803042"/>
            <a:ext cx="1322155" cy="60942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6639" y="1412464"/>
            <a:ext cx="850237" cy="28567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6639" y="1412464"/>
            <a:ext cx="255783" cy="166806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49907" y="1412464"/>
            <a:ext cx="676732" cy="146067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26639" y="461869"/>
            <a:ext cx="32267" cy="95059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295229" y="1974677"/>
            <a:ext cx="597945" cy="95775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975950" y="3939397"/>
            <a:ext cx="854036" cy="763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29986" y="4015783"/>
            <a:ext cx="1267639" cy="117668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29986" y="4015783"/>
            <a:ext cx="873465" cy="56983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3394424" y="2848103"/>
            <a:ext cx="435562" cy="116768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29986" y="3883968"/>
            <a:ext cx="671841" cy="13181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29986" y="2736196"/>
            <a:ext cx="953778" cy="127958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9321414" y="3929811"/>
            <a:ext cx="363418" cy="8638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684832" y="4793703"/>
            <a:ext cx="976966" cy="67811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75950" y="2848103"/>
            <a:ext cx="418474" cy="109129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844762" y="3325874"/>
            <a:ext cx="131188" cy="61352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4766339" y="5976211"/>
            <a:ext cx="1636696" cy="2548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7486541" y="1018759"/>
            <a:ext cx="1406633" cy="95591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097625" y="4554755"/>
            <a:ext cx="682437" cy="63771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5097625" y="4235451"/>
            <a:ext cx="1187089" cy="95702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52949" y="2848103"/>
            <a:ext cx="1541475" cy="50520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852949" y="3325874"/>
            <a:ext cx="991813" cy="2743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262292" y="3353308"/>
            <a:ext cx="590657" cy="99664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1237022" y="2493636"/>
            <a:ext cx="615927" cy="85967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52949" y="2382397"/>
            <a:ext cx="1222500" cy="97091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78002" y="4582624"/>
            <a:ext cx="261661" cy="22820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78002" y="4349957"/>
            <a:ext cx="784290" cy="23266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 flipV="1">
            <a:off x="10020656" y="1951756"/>
            <a:ext cx="652902" cy="19992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7069905" y="1801916"/>
            <a:ext cx="112509" cy="132674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9988410" y="5925205"/>
            <a:ext cx="252221" cy="55341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0240631" y="5349030"/>
            <a:ext cx="726201" cy="11295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4501827" y="3883968"/>
            <a:ext cx="1278235" cy="67078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780062" y="4235451"/>
            <a:ext cx="504652" cy="31930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718754" y="4810832"/>
            <a:ext cx="20909" cy="45770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39663" y="4349957"/>
            <a:ext cx="522629" cy="46087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310899" y="4810832"/>
            <a:ext cx="428764" cy="118533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703451" y="4585620"/>
            <a:ext cx="62888" cy="139059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4501827" y="3883968"/>
            <a:ext cx="201624" cy="70165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703451" y="4235451"/>
            <a:ext cx="1581263" cy="35016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75080" y="3080527"/>
            <a:ext cx="707342" cy="8577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5080" y="2493636"/>
            <a:ext cx="961942" cy="67267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048794" y="803042"/>
            <a:ext cx="496383" cy="31003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18754" y="4349957"/>
            <a:ext cx="543538" cy="91858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310899" y="5268541"/>
            <a:ext cx="407855" cy="72763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576876" y="1590760"/>
            <a:ext cx="571516" cy="10738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758906" y="461869"/>
            <a:ext cx="817970" cy="123627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576876" y="1113075"/>
            <a:ext cx="968301" cy="58506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576876" y="1698142"/>
            <a:ext cx="1498573" cy="68425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4374028" y="5976211"/>
            <a:ext cx="392311" cy="8758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9988410" y="5349030"/>
            <a:ext cx="978422" cy="57617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9988410" y="5471813"/>
            <a:ext cx="673388" cy="4533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394424" y="2848103"/>
            <a:ext cx="1107403" cy="103586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394424" y="2736196"/>
            <a:ext cx="1389340" cy="11190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148392" y="1590760"/>
            <a:ext cx="927057" cy="79163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182414" y="1018759"/>
            <a:ext cx="304127" cy="78315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01827" y="2736196"/>
            <a:ext cx="281937" cy="114777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10966832" y="4735405"/>
            <a:ext cx="653047" cy="61362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10661798" y="5349030"/>
            <a:ext cx="305034" cy="12278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2844" y="461869"/>
            <a:ext cx="756062" cy="57550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3948070" y="1034523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5994" y="496768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533310" y="2507894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07105" y="3479994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57135" y="2973942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656" y="622109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175608" y="5670551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09355" y="1530972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649474" y="6499387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035863" y="2720434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902204" y="319464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66185" y="1986140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758714" y="807819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760916" y="5596994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03360" y="3988613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789438" y="255390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77933" y="430606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26639" y="1412464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295229" y="2932428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829986" y="4015783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25085" y="2055802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84832" y="4793703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975950" y="3939397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403035" y="600169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93174" y="1974677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949992" y="809695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5097625" y="5192472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852949" y="3353308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78002" y="4582624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321414" y="3929811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673558" y="2151680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476829" y="4076188"/>
            <a:ext cx="41148" cy="4114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069905" y="3128656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240631" y="6478622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780062" y="4554755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39663" y="481083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889597" y="6810651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020656" y="1951756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703451" y="4585620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75080" y="3166306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048794" y="803042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718754" y="5268541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576876" y="1698142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766339" y="5976211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82422" y="3080527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698603" y="6058246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988410" y="5925205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4424" y="2848103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374028" y="6063794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676366" y="1035015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2148392" y="1590760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2844762" y="3325874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82414" y="1801916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9907" y="287313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501827" y="3883968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619879" y="473540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284714" y="4235451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244025" y="370283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966832" y="5349030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0661798" y="5471813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783764" y="2736196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262292" y="4349957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58906" y="461869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545177" y="111307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145830" y="360563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844" y="1037374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237022" y="2493636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10899" y="5996171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486541" y="1018759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3075449" y="2382397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BC1FF"/>
                </a:solidFill>
                <a:latin typeface="Segoe UI"/>
              </a:rPr>
              <a:t>ENGINEERING DEEP-DIVE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7724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Segoe UI Light"/>
              </a:rPr>
              <a:t>PrimeNet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A9B7C9"/>
                </a:solidFill>
                <a:latin typeface="Segoe UI Light"/>
              </a:rPr>
              <a:t>Radio network performance &amp; configuration platform — under the hood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22960" y="3703320"/>
            <a:ext cx="23317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22960" y="3698748"/>
            <a:ext cx="233172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BC1FF"/>
                </a:solidFill>
                <a:latin typeface="Segoe UI"/>
              </a:rPr>
              <a:t>Flask modular monolith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3355848" y="3703320"/>
            <a:ext cx="1563624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355848" y="3698748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DD6B0"/>
                </a:solidFill>
                <a:latin typeface="Segoe UI"/>
              </a:rPr>
              <a:t>Nokia + Huawei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5120640" y="3703320"/>
            <a:ext cx="185166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B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120640" y="3698748"/>
            <a:ext cx="18516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08CFF"/>
                </a:solidFill>
                <a:latin typeface="Segoe UI"/>
              </a:rPr>
              <a:t>2G · 3G · 4G · 5G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7173468" y="3703320"/>
            <a:ext cx="1947672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73468" y="3698748"/>
            <a:ext cx="194767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2B84B"/>
                </a:solidFill>
                <a:latin typeface="Segoe UI"/>
              </a:rPr>
              <a:t>37 feature modules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22960" y="461772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22960" y="4617720"/>
            <a:ext cx="82296" cy="960120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05156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2B84B"/>
                </a:solidFill>
                <a:latin typeface="Segoe UI"/>
              </a:rPr>
              <a:t>⟳  This is a companion deck.  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Amber bands mark </a:t>
            </a:r>
            <a:r>
              <a:rPr sz="1200" b="1" i="0">
                <a:solidFill>
                  <a:srgbClr val="E8EEF7"/>
                </a:solidFill>
                <a:latin typeface="Segoe UI"/>
              </a:rPr>
              <a:t>live-tool checkpoints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 — keep PrimeNet open in a second window and switch to it whenever you see one.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1">
                <a:solidFill>
                  <a:srgbClr val="74869C"/>
                </a:solidFill>
                <a:latin typeface="Segoe UI"/>
              </a:rPr>
              <a:t>The slides carry the engineering that the UI doesn't show; the tool carries the proof.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4869C"/>
                </a:solidFill>
                <a:latin typeface="Segoe UI"/>
              </a:rPr>
              <a:t>Presenter: Malek Mohammad   ·   Audience: RAN / platform engineers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PRESENTER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How to run this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DD6B0"/>
                </a:solidFill>
                <a:latin typeface="Segoe UI"/>
              </a:rPr>
              <a:t>The two-window rhythm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58368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Deck = the “why”.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Architecture, data flow, algorithms, and design trade-offs that never appear on screen.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Tool = the “proof”.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Every claim is demonstrable live; the deck tells you exactly where to click.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Ideal layout: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two monitors, or deck on the left half / PrimeNet on the right half.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Cadence: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explain a subsystem → hit its amber checkpoint → return on the recap 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Login once up front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so activation and session are warm before the first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4251960" cy="4160520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4173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A9B7C9"/>
                </a:solidFill>
                <a:latin typeface="Segoe UI"/>
              </a:rPr>
              <a:t>SLIDE LEGEND</a:t>
            </a:r>
          </a:p>
        </p:txBody>
      </p:sp>
      <p:sp>
        <p:nvSpPr>
          <p:cNvPr id="10" name="Oval 9"/>
          <p:cNvSpPr/>
          <p:nvPr/>
        </p:nvSpPr>
        <p:spPr>
          <a:xfrm>
            <a:off x="7726680" y="1874519"/>
            <a:ext cx="146304" cy="146304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78308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B84B"/>
                </a:solidFill>
                <a:latin typeface="Segoe UI"/>
              </a:rPr>
              <a:t>⟳ SWITCH TO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066543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Stop talking, start clicking. Click-path is monospaced.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80" y="2660903"/>
            <a:ext cx="146304" cy="146304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2569464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DD6B0"/>
                </a:solidFill>
                <a:latin typeface="Segoe UI"/>
              </a:rPr>
              <a:t>Point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852928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The one thing the audience must notice on screen.</a:t>
            </a:r>
          </a:p>
        </p:txBody>
      </p:sp>
      <p:sp>
        <p:nvSpPr>
          <p:cNvPr id="16" name="Oval 15"/>
          <p:cNvSpPr/>
          <p:nvPr/>
        </p:nvSpPr>
        <p:spPr>
          <a:xfrm>
            <a:off x="7726680" y="3447287"/>
            <a:ext cx="146304" cy="146304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335584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blue bullets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639311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Load-bearing engineering detail.</a:t>
            </a:r>
          </a:p>
        </p:txBody>
      </p:sp>
      <p:sp>
        <p:nvSpPr>
          <p:cNvPr id="19" name="Oval 18"/>
          <p:cNvSpPr/>
          <p:nvPr/>
        </p:nvSpPr>
        <p:spPr>
          <a:xfrm>
            <a:off x="7726680" y="4233672"/>
            <a:ext cx="146304" cy="146304"/>
          </a:xfrm>
          <a:prstGeom prst="ellipse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142232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08CFF"/>
                </a:solidFill>
                <a:latin typeface="Segoe UI"/>
              </a:rPr>
              <a:t>◆ diagrams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425696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Data-flow / lifecycle maps to anchor the mental model.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5020056"/>
            <a:ext cx="37033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74869C"/>
                </a:solidFill>
                <a:latin typeface="Segoe UI"/>
              </a:rPr>
              <a:t>If a demo env is offline, the deck still stands alone — just narrate the checkpoint.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Presenter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What we'll cover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64008" cy="1078992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35607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BC1FF"/>
                </a:solidFill>
                <a:latin typeface="Segoe UI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49961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System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92807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Scale, shape, and the modular-monolith bet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64008" cy="1078992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435607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DD6B0"/>
                </a:solidFill>
                <a:latin typeface="Segoe UI Ligh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49961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Architecture &amp; a module's anatomy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892807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Blueprints, folders, shared 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1460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14600"/>
            <a:ext cx="64008" cy="1078992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62432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B08CFF"/>
                </a:solidFill>
                <a:latin typeface="Segoe UI Ligh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26883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Request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08152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The before_request middleware chain &amp; security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2514600"/>
            <a:ext cx="64008" cy="1078992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262432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2B84B"/>
                </a:solidFill>
                <a:latin typeface="Segoe UI Light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26883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Data platform &amp; ETL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308152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SFTP pull → raw taxonomy → SQLite 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0332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03320"/>
            <a:ext cx="64008" cy="1078992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81304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9913A"/>
                </a:solidFill>
                <a:latin typeface="Segoe UI Light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38770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Orchestration &amp; scheduling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27024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Daily/hourly/watcher, APScheduler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70332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3703320"/>
            <a:ext cx="64008" cy="1078992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381304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BC1FF"/>
                </a:solidFill>
                <a:latin typeface="Segoe UI Light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38770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CM Extractor &amp; write-back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27024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Nokia CM Open API, Huawei MML, RET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89204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64008" cy="1078992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00176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DD6B0"/>
                </a:solidFill>
                <a:latin typeface="Segoe UI Light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06577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Radio analytics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4589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The shared scoring model &amp; insight catalog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892040"/>
            <a:ext cx="5394960" cy="1078992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4892040"/>
            <a:ext cx="64008" cy="1078992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5001768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B08CFF"/>
                </a:solidFill>
                <a:latin typeface="Segoe UI Light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506577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EEF7"/>
                </a:solidFill>
                <a:latin typeface="Segoe UI"/>
              </a:rPr>
              <a:t>Frontend &amp; deployment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54589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Theme system, Docker, extending PrimeNet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Roadmap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System at a glance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2670048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8BC1FF"/>
                </a:solidFill>
                <a:latin typeface="Segoe UI Light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12848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feature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87168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each a self-contained Flask blueprint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670048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37160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3DD6B0"/>
                </a:solidFill>
                <a:latin typeface="Segoe UI Ligh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12848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RAN vendors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487168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Nokia &amp; Huawei, one shared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9" y="1280160"/>
            <a:ext cx="2670048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137160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B08CFF"/>
                </a:solidFill>
                <a:latin typeface="Segoe UI Ligh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7" y="2212848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generations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7" y="2487168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2G / 3G / 4G / 5G KPIs &amp; 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399" y="1280160"/>
            <a:ext cx="2670048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3999" y="137160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2B84B"/>
                </a:solidFill>
                <a:latin typeface="Segoe UI Ligh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7" y="2212848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SFTP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7" y="2487168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Nokia PM · Huawei PM · Metadata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0632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DD6B0"/>
                </a:solidFill>
                <a:latin typeface="Segoe UI"/>
              </a:rPr>
              <a:t>The shape of the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53212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One process, many modules.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A modular monolith: 37 blueprints registered in app.py, one SQLite-backed runtime, one auth/session 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Vendor + RAT are data, not forks.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Nokia/Huawei and 2G–5G differences live in adapters and a path taxonomy, not parallel apps.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Read-heavy analytics, guarded writes.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PM analytics are read-only; CM write-back (RET, mass-modify) is explicit and audited.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01568"/>
            <a:ext cx="53492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3DD6B0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Why a monolith?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Small ops team, shared SQLite data, no per-module network hops — deploy is a single container.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3DD6B0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Cohesion via convention.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Every module follows the same folder + blueprint contract, so 37 modules stay legible.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3DD6B0"/>
                </a:solidFill>
                <a:latin typeface="Segoe UI"/>
              </a:rPr>
              <a:t>▸  </a:t>
            </a:r>
            <a:r>
              <a:rPr sz="1250" b="1" i="0">
                <a:solidFill>
                  <a:srgbClr val="FFFFFF"/>
                </a:solidFill>
                <a:latin typeface="Segoe UI"/>
              </a:rPr>
              <a:t>Escape hatches exist. </a:t>
            </a:r>
            <a:r>
              <a:rPr sz="1250" b="0" i="0">
                <a:solidFill>
                  <a:srgbClr val="E8EEF7"/>
                </a:solidFill>
                <a:latin typeface="Segoe UI"/>
              </a:rPr>
              <a:t>Heavy CM/FM work delegates to core/ clients; the pipeline runs as separate orchestrated jobs.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01 · Overview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Architecture: the modular monolith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234440"/>
            <a:ext cx="9235440" cy="786384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1234440"/>
            <a:ext cx="64008" cy="786384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64208" y="1316736"/>
            <a:ext cx="8915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BC1FF"/>
                </a:solidFill>
                <a:latin typeface="Segoe UI"/>
              </a:rPr>
              <a:t>App shell —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1618488"/>
            <a:ext cx="8915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Loads .env → activation gate → registers 37 blueprints → before/after_request hooks → error handlers → health probe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020824"/>
            <a:ext cx="0" cy="219456"/>
          </a:xfrm>
          <a:prstGeom prst="bentConnector3">
            <a:avLst/>
          </a:prstGeom>
          <a:ln w="1905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286000"/>
            <a:ext cx="5257800" cy="141732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64008" cy="1417320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682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DD6B0"/>
                </a:solidFill>
                <a:latin typeface="Segoe UI"/>
              </a:rPr>
              <a:t>Feature modules  ·  modules/&lt;name&gt;/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routes.py  (blueprint)
templates/   (Jinja pages)
static/      (module CSS/JS)
logic.py     (module compute)
37 modules — Performance, CM Extractor,
RET, Sector Health, SON, Fault Mgmt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286000"/>
            <a:ext cx="5623560" cy="141732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B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9320" y="2286000"/>
            <a:ext cx="64008" cy="1417320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0488" y="2368296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08CFF"/>
                </a:solidFill>
                <a:latin typeface="Segoe UI"/>
              </a:rPr>
              <a:t>Shared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70048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routes/auth_routes.py      login / session
core/                       vendor clients, scoring, radio,
                            cm_extractor, activation, licensing
utils/  ·  db/runtime.py    SQLite access, path constants
core/module_access.py       RBAC visibility rules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80760" y="3703320"/>
            <a:ext cx="0" cy="228600"/>
          </a:xfrm>
          <a:prstGeom prst="bentConnector3">
            <a:avLst/>
          </a:prstGeom>
          <a:ln w="1905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3977639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64008" cy="1234440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59935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B84B"/>
                </a:solidFill>
                <a:latin typeface="Segoe UI"/>
              </a:rPr>
              <a:t>Data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361688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SQLite files under databases/
   cells / groups / metadata / admin
Canonical taxonomy: pipeline/paths.py
Activation-gated connections (db/runtime.py)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977639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E99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89320" y="3977639"/>
            <a:ext cx="64008" cy="1234440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4059935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9913A"/>
                </a:solidFill>
                <a:latin typeface="Segoe UI"/>
              </a:rPr>
              <a:t>ETL pipeline  ·  pipeline/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4361688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pull/  →  raw/{vendor}/{domain}/{rat}/{tf}
load/  →  databases/…
orchestrators/ (daily · hourly · watcher)
APScheduler drives recurring jobs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DD6B0"/>
                </a:solidFill>
                <a:latin typeface="Segoe UI"/>
              </a:rPr>
              <a:t>Contract, not framework:  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a new capability is a folder that follows the module shape and one register_blueprint() line. That single convention is what keeps 37 modules maintainable by a small team.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02 ·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Anatomy of a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0C131D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BC1FF"/>
                </a:solidFill>
                <a:latin typeface="Consolas"/>
              </a:rPr>
              <a:t>modules/capacity_hotspots/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76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Consolas"/>
              </a:rPr>
              <a:t>├─ __init__.py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9397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DD6B0"/>
                </a:solidFill>
                <a:latin typeface="Consolas"/>
              </a:rPr>
              <a:t>├─ routes.py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003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4869C"/>
                </a:solidFill>
                <a:latin typeface="Consolas"/>
              </a:rPr>
              <a:t>│    @login_required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66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4869C"/>
                </a:solidFill>
                <a:latin typeface="Consolas"/>
              </a:rPr>
              <a:t>│    capacity_hotspots_bp = Blueprint(…)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29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DD6B0"/>
                </a:solidFill>
                <a:latin typeface="Consolas"/>
              </a:rPr>
              <a:t>├─ logic.py            # compute /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192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Consolas"/>
              </a:rPr>
              <a:t>├─ templates/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255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4869C"/>
                </a:solidFill>
                <a:latin typeface="Consolas"/>
              </a:rPr>
              <a:t>│    └─ capacity_hotspots.html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Consolas"/>
              </a:rPr>
              <a:t>└─ static/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382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4869C"/>
                </a:solidFill>
                <a:latin typeface="Consolas"/>
              </a:rPr>
              <a:t>     ├─ capacity_hotspots.css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445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4869C"/>
                </a:solidFill>
                <a:latin typeface="Consolas"/>
              </a:rPr>
              <a:t>     └─ capacity_hotspots.js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2801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DD6B0"/>
                </a:solidFill>
                <a:latin typeface="Segoe UI"/>
              </a:rPr>
              <a:t>The module contract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1627632"/>
            <a:ext cx="562356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Blueprint per module.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Own url_prefix, template_folder="templates", module-local static_folder.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Auth by decorator.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Copy the login_required pattern; session rides a session_token cookie.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Thin routes.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routes.py validates + delegates; real work sits in logic.py or core/.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Visibility is declared.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core/module_access.py maps each route to all / admin / admin_or_noc.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Registered once.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Import + app.register_blueprint(...) in app.py — the only global touch-point.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02 ·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85855" cy="1188720"/>
          </a:xfrm>
          <a:prstGeom prst="roundRect">
            <a:avLst>
              <a:gd name="adj" fmla="val 5000"/>
            </a:avLst>
          </a:prstGeom>
          <a:solidFill>
            <a:srgbClr val="221C0E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82296" cy="1188720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1389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B84B"/>
                </a:solidFill>
                <a:latin typeface="Segoe UI"/>
              </a:rPr>
              <a:t>⟳  SWITCH TO TOOL</a:t>
            </a:r>
            <a:r>
              <a:rPr sz="1050" b="0" i="1">
                <a:solidFill>
                  <a:srgbClr val="C9B082"/>
                </a:solidFill>
                <a:latin typeface="Segoe UI"/>
              </a:rPr>
              <a:t>   — live demo checkpoint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43153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Open any module and show the identical shell — header, filters, dark-mode toggle.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678424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B84B"/>
                </a:solidFill>
                <a:latin typeface="Segoe UI"/>
              </a:rPr>
              <a:t>Click path:  </a:t>
            </a:r>
            <a:r>
              <a:rPr sz="1050" b="0" i="0">
                <a:solidFill>
                  <a:srgbClr val="A9B7C9"/>
                </a:solidFill>
                <a:latin typeface="Consolas"/>
              </a:rPr>
              <a:t>Dashboard → Radio Optimization → Capacity Hotspots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9253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3DD6B0"/>
                </a:solidFill>
                <a:latin typeface="Segoe UI"/>
              </a:rPr>
              <a:t>Point out:  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Same chrome across modules = the contract paying off. Toggle dark mode; it persists.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Request lifecycle: the middleware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Segoe UI"/>
              </a:rPr>
              <a:t>Every request threads four </a:t>
            </a:r>
            <a:r>
              <a:rPr sz="1200" b="1" i="0">
                <a:solidFill>
                  <a:srgbClr val="3DD6B0"/>
                </a:solidFill>
                <a:latin typeface="Consolas"/>
              </a:rPr>
              <a:t>@app.before_request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 guards before a blueprint ever runs: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2743200" cy="178308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69164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8BC1FF"/>
                </a:solidFill>
                <a:latin typeface="Segoe UI Ligh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Activation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060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enforce_monthly_operator_activation — locked → /activation (or 403 on /api).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219456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572768"/>
            <a:ext cx="2743200" cy="178308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8728" y="169164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3DD6B0"/>
                </a:solidFill>
                <a:latin typeface="Segoe UI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Input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6060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Validate + sanitize args / form / JSON; reject malformed or oversized bodies (413/400).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19456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572768"/>
            <a:ext cx="2743200" cy="178308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B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69164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B08CFF"/>
                </a:solidFill>
                <a:latin typeface="Segoe UI Ligh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CSRF origin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060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State-changing + cookie auth ⇒ Origin/Referer must be same-origin, else 403.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194560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572768"/>
            <a:ext cx="2743200" cy="178308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69164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2B84B"/>
                </a:solidFill>
                <a:latin typeface="Segoe UI Ligh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Password rotation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6060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Force expired credentials to /profile before any other page.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611880"/>
            <a:ext cx="11155680" cy="868680"/>
          </a:xfrm>
          <a:prstGeom prst="roundRect">
            <a:avLst>
              <a:gd name="adj" fmla="val 5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703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913A"/>
                </a:solidFill>
                <a:latin typeface="Consolas"/>
              </a:rPr>
              <a:t>@app.after_request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0507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Security headers on every response:  </a:t>
            </a:r>
            <a:r>
              <a:rPr sz="1100" b="1" i="0">
                <a:solidFill>
                  <a:srgbClr val="E8EEF7"/>
                </a:solidFill>
                <a:latin typeface="Segoe UI"/>
              </a:rPr>
              <a:t>CSP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(self + unpkg + OSM/ArcGIS tiles), </a:t>
            </a:r>
            <a:r>
              <a:rPr sz="1100" b="1" i="0">
                <a:solidFill>
                  <a:srgbClr val="E8EEF7"/>
                </a:solidFill>
                <a:latin typeface="Segoe UI"/>
              </a:rPr>
              <a:t>X-Content-Type-Options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, </a:t>
            </a:r>
            <a:r>
              <a:rPr sz="1100" b="1" i="0">
                <a:solidFill>
                  <a:srgbClr val="E8EEF7"/>
                </a:solidFill>
                <a:latin typeface="Segoe UI"/>
              </a:rPr>
              <a:t>X-Frame-Options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, </a:t>
            </a:r>
            <a:r>
              <a:rPr sz="1100" b="1" i="0">
                <a:solidFill>
                  <a:srgbClr val="E8EEF7"/>
                </a:solidFill>
                <a:latin typeface="Segoe UI"/>
              </a:rPr>
              <a:t>Referrer-Policy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, </a:t>
            </a:r>
            <a:r>
              <a:rPr sz="1100" b="1" i="0">
                <a:solidFill>
                  <a:srgbClr val="E8EEF7"/>
                </a:solidFill>
                <a:latin typeface="Segoe UI"/>
              </a:rPr>
              <a:t>Permissions-Policy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, optional HSTS.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177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DD6B0"/>
                </a:solidFill>
                <a:latin typeface="Segoe UI"/>
              </a:rPr>
              <a:t>Engineering note:  </a:t>
            </a:r>
            <a:r>
              <a:rPr sz="1150" b="0" i="0">
                <a:solidFill>
                  <a:srgbClr val="A9B7C9"/>
                </a:solidFill>
                <a:latin typeface="Segoe UI"/>
              </a:rPr>
              <a:t>access logs use a ConciseRequestHandler that strips query strings — KPI selections can be thousands of chars, so the raw URL never hits the log. Fail-closed by default: unknown state ⇒ redirect/deny, not allow.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03 · Request lifecycle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Security, sessions &amp; activation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39312" cy="3977639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639312" cy="457200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280160"/>
            <a:ext cx="3273552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Auth &amp; sessions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74519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session_token cookie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server-side sessions; lifetime via SESSION_LIFETIME_HOURS (default 2h).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53511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RBAC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three tiers — all / admin (owner) / admin_or_noc — enforced in nav + routes.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032503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Password policy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forced rotation short-circuits the whole app until changed.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1104" y="1280160"/>
            <a:ext cx="3639312" cy="3977639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61104" y="1280160"/>
            <a:ext cx="3639312" cy="457200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280160"/>
            <a:ext cx="3273552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Operator activation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874519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Monthly gate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install_sqlite_gate() + activation_gate wrap DB access; unactivated ⇒ 503/redirect.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953511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License client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core/license_client + license_tokens verify the operator token.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4032503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Health-aware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/health returns locked / degraded / ok for orchestrators &amp; LBs.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9288" y="1280160"/>
            <a:ext cx="3639312" cy="3977639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9288" y="1280160"/>
            <a:ext cx="3639312" cy="457200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273552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Input &amp; 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874519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Global sanitizer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depth/'size/length caps on args, form, JSON via utils/input_safety.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53511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CSRF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same-origin check for cookie-auth mutations.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4032503"/>
            <a:ext cx="3255264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● </a:t>
            </a:r>
            <a:r>
              <a:rPr sz="1150" b="1" i="0">
                <a:solidFill>
                  <a:srgbClr val="FFFFFF"/>
                </a:solidFill>
                <a:latin typeface="Segoe UI"/>
              </a:rPr>
              <a:t>Secrets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SFTP/CM creds only in local .env — never committed; server-side only.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03 ·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Data platform: SQLite + a path taxonomy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DD6B0"/>
                </a:solidFill>
                <a:latin typeface="Segoe UI"/>
              </a:rPr>
              <a:t>Why SQLite (on purpose)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5778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Zero-ops, file-per-scope.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PM KPIs, metadata, users, admin each live in their own .db under databases/.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Deterministic paths.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pipeline/paths.py is the single source of truth for where data lives.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Portable.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NCM_DATA_ROOT relocates the whole data tree to a mounted volume in Docker.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Gated access.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db/runtime.py installs the activation gate before any connection opens.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Automatic PM columns.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KPI column detection is runtime-automatic — no per-vendor mapping to maintain.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0C131D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A9B7C9"/>
                </a:solidFill>
                <a:latin typeface="Segoe UI"/>
              </a:rPr>
              <a:t>CANONICAL TAXONOMY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BC1FF"/>
                </a:solidFill>
                <a:latin typeface="Consolas"/>
              </a:rPr>
              <a:t>raw/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8881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74869C"/>
                </a:solidFill>
                <a:latin typeface="Consolas"/>
              </a:rPr>
              <a:t>  {vendor}/{domain}/{rat}/{timeframe}/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7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D6B0"/>
                </a:solidFill>
                <a:latin typeface="Consolas"/>
              </a:rPr>
              <a:t>  nokia/cells/4g/hourly/  ← one RAT per folder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9173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D6B0"/>
                </a:solidFill>
                <a:latin typeface="Consolas"/>
              </a:rPr>
              <a:t>  huawei/cells/all/daily/ ← staging, then RAT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19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9465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BC1FF"/>
                </a:solidFill>
                <a:latin typeface="Consolas"/>
              </a:rPr>
              <a:t>databases/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24611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74869C"/>
                </a:solidFill>
                <a:latin typeface="Consolas"/>
              </a:rPr>
              <a:t>  {domain}/{vendor}/{tech}/{timeframe}/*.db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9757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DD6B0"/>
                </a:solidFill>
                <a:latin typeface="Consolas"/>
              </a:rPr>
              <a:t>  cells/nokia/all/hourly/…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39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005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>vendors   = nokia · huawei ·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2519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>domains   = cells · groups · neighbors ·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034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>rats      = 2g · 3g · 4g · 5g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5488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7C9"/>
                </a:solidFill>
                <a:latin typeface="Consolas"/>
              </a:rPr>
              <a:t>timeframes= hourly · daily ·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04 · Data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ETL pipeline: source → raw → SQLite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084831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84831" cy="38404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2084831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722"/>
                </a:solidFill>
                <a:latin typeface="Segoe U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Consolas"/>
              </a:rPr>
              <a:t>3× SFTP servers
Nokia PM · Huawei PM
·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9464" y="1965960"/>
            <a:ext cx="20116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2344" y="1371600"/>
            <a:ext cx="2084831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2344" y="1371600"/>
            <a:ext cx="2084831" cy="384048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2344" y="1371600"/>
            <a:ext cx="2084831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722"/>
                </a:solidFill>
                <a:latin typeface="Segoe UI"/>
              </a:rPr>
              <a:t>PULL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3" y="182880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Consolas"/>
              </a:rPr>
              <a:t>pipeline/pull/…
paramiko SFTP,
per vendor/rat/tf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965960"/>
            <a:ext cx="20116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1768" y="1371600"/>
            <a:ext cx="2084831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5875">
            <a:solidFill>
              <a:srgbClr val="B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1768" y="1371600"/>
            <a:ext cx="2084831" cy="384048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1768" y="1371600"/>
            <a:ext cx="2084831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722"/>
                </a:solidFill>
                <a:latin typeface="Segoe UI"/>
              </a:rPr>
              <a:t>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82880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Consolas"/>
              </a:rPr>
              <a:t>raw/ taxonomy
one RAT per folder
(Huawei staged→split)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1965960"/>
            <a:ext cx="20116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1371600"/>
            <a:ext cx="2084831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1371600"/>
            <a:ext cx="2084831" cy="384048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51192" y="1371600"/>
            <a:ext cx="2084831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722"/>
                </a:solidFill>
                <a:latin typeface="Segoe UI"/>
              </a:rPr>
              <a:t>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82880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Consolas"/>
              </a:rPr>
              <a:t>pipeline/load/…
auto column detect,
upsert into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1965960"/>
            <a:ext cx="20116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74869C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0616" y="1371600"/>
            <a:ext cx="2084831" cy="15544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5875">
            <a:solidFill>
              <a:srgbClr val="E99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00616" y="1371600"/>
            <a:ext cx="2084831" cy="384048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0616" y="1371600"/>
            <a:ext cx="2084831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722"/>
                </a:solidFill>
                <a:latin typeface="Segoe UI"/>
              </a:rPr>
              <a:t>DATABASES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1828800"/>
            <a:ext cx="1810511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Consolas"/>
              </a:rPr>
              <a:t>databases/*.db
read by 37 modules
+ radio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2004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Idempotent by design.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Pull writes into a deterministic tree; load re-runs safely — reprocessing a day just overwrites its rows.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Vendor asymmetry handled early.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Huawei daily exports stage in raw/huawei/{cells,groups}/all/daily, then split by RAT before 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Verified, not assumed.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core/pipeline_ingest_verify + pm_health check row counts / freshness before data is trusted downstream.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Prefer orchestrators.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pipeline/orchestrators/ over ad-hoc scripts — the taxonomy + entry points are the contract.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04 · ETL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138928"/>
            <a:ext cx="11185855" cy="969264"/>
          </a:xfrm>
          <a:prstGeom prst="roundRect">
            <a:avLst>
              <a:gd name="adj" fmla="val 5000"/>
            </a:avLst>
          </a:prstGeom>
          <a:solidFill>
            <a:srgbClr val="221C0E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138928"/>
            <a:ext cx="82296" cy="96926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" y="524865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B84B"/>
                </a:solidFill>
                <a:latin typeface="Segoe UI"/>
              </a:rPr>
              <a:t>⟳  SWITCH TO TOOL</a:t>
            </a:r>
            <a:r>
              <a:rPr sz="1050" b="0" i="1">
                <a:solidFill>
                  <a:srgbClr val="C9B082"/>
                </a:solidFill>
                <a:latin typeface="Segoe UI"/>
              </a:rPr>
              <a:t>   — live demo checkpoint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554126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Show a live sync run and the resulting freshness / row counts.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" y="5788152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B84B"/>
                </a:solidFill>
                <a:latin typeface="Segoe UI"/>
              </a:rPr>
              <a:t>Click path:  </a:t>
            </a:r>
            <a:r>
              <a:rPr sz="1050" b="0" i="0">
                <a:solidFill>
                  <a:srgbClr val="A9B7C9"/>
                </a:solidFill>
                <a:latin typeface="Consolas"/>
              </a:rPr>
              <a:t>Dashboard → Sync   (watch a pull→load cycle, then Network Health for freshness)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Orchestration &amp;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66160" cy="173736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64008" cy="1737360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8BC1FF"/>
                </a:solidFill>
                <a:latin typeface="Consolas"/>
              </a:rPr>
              <a:t>orchestrate_daily_full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196596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Full daily cycle: pull every source's daily exports, split RATs, load all domains, verify. The heavy nightly run.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3566160" cy="173736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64008" cy="1737360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DD6B0"/>
                </a:solidFill>
                <a:latin typeface="Consolas"/>
              </a:rPr>
              <a:t>orchestrate_hourly_full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196596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Lighter hourly cadence for near-real-time KPIs — same pull→load→verify shape, hourly timeframe.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325880"/>
            <a:ext cx="3566160" cy="173736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B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0" y="1325880"/>
            <a:ext cx="64008" cy="1737360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08CFF"/>
                </a:solidFill>
                <a:latin typeface="Consolas"/>
              </a:rPr>
              <a:t>orchestrate_watcher_cycle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196596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Watches for freshly-dropped files and ingests on arrival — bridges the gap between scheduled runs.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832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APScheduler in-process.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Recurring jobs run inside the app (requirements: APScheduler) — no external cron dependency for the core cadence.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Config Task Scheduler module.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User-facing scheduling of CM jobs (exports, audits) with its own persistence and status 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Windows dev affordance.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A live-sync logger terminal + auto-browser open are dev-only, disabled by NCM_CONTAINER in Docker.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Observability.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sync_log entries stream live; /health surfaces DB reachability for external schedulers.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05 · Orchestration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CM Extractor: reading two vendors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278892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8BC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NOKIA — CM Open API (NetAct)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EEF7"/>
                </a:solidFill>
                <a:latin typeface="Segoe UI"/>
              </a:rPr>
              <a:t>Two REST interfaces, HTTP Basic: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persistency/v1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read CM — queries, MO lists, parameter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operations/v1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Configurator ops — Provision, Export, Import_Export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5292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confId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1 = live · 5 = reference · other = plan (writes)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1868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DN paths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PLMN-…/RNC-42/WBTS-176/WCEL-1  ·  class NOKRNC:WCEL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844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Throttled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batch size + delay + retries to dodge NetAct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280160"/>
            <a:ext cx="5486400" cy="2788920"/>
          </a:xfrm>
          <a:prstGeom prst="roundRect">
            <a:avLst>
              <a:gd name="adj" fmla="val 5000"/>
            </a:avLst>
          </a:prstGeom>
          <a:solidFill>
            <a:srgbClr val="182230"/>
          </a:solidFill>
          <a:ln w="15875">
            <a:solidFill>
              <a:srgbClr val="E554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4173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548A"/>
                </a:solidFill>
                <a:latin typeface="Segoe UI"/>
              </a:rPr>
              <a:t>HUAWEI — MML / U2020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5548A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MML discovery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enumerate NEs &amp; MO scope via MML commands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86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5548A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huawei_client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session, command exec, response parsing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697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5548A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mml_parser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structured tables out of raw MML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108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5548A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param dict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19k scraped reference pages resolve semantics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5204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5548A"/>
                </a:solidFill>
                <a:latin typeface="Segoe UI"/>
              </a:rPr>
              <a:t>• </a:t>
            </a:r>
            <a:r>
              <a:rPr sz="1100" b="1" i="0">
                <a:solidFill>
                  <a:srgbClr val="E8EEF7"/>
                </a:solidFill>
                <a:latin typeface="Consolas"/>
              </a:rPr>
              <a:t>RET / tilt</a:t>
            </a:r>
            <a:r>
              <a:rPr sz="1000" b="0" i="0">
                <a:solidFill>
                  <a:srgbClr val="A9B7C9"/>
                </a:solidFill>
                <a:latin typeface="Segoe UI"/>
              </a:rPr>
              <a:t>  RET MOD command formatting + tilt handling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245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DD6B0"/>
                </a:solidFill>
                <a:latin typeface="Segoe UI"/>
              </a:rPr>
              <a:t>One UI, two protocols.  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core/cm_extractor/ hides the Nokia-REST vs Huawei-MML split behind a common extract → normalize → Excel path; the module layer never sees the difference.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06 · CM Extractor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74920"/>
            <a:ext cx="11185855" cy="969264"/>
          </a:xfrm>
          <a:prstGeom prst="roundRect">
            <a:avLst>
              <a:gd name="adj" fmla="val 5000"/>
            </a:avLst>
          </a:prstGeom>
          <a:solidFill>
            <a:srgbClr val="221C0E"/>
          </a:solidFill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74920"/>
            <a:ext cx="82296" cy="96926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518464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B84B"/>
                </a:solidFill>
                <a:latin typeface="Segoe UI"/>
              </a:rPr>
              <a:t>⟳  SWITCH TO TOOL</a:t>
            </a:r>
            <a:r>
              <a:rPr sz="1050" b="0" i="1">
                <a:solidFill>
                  <a:srgbClr val="C9B082"/>
                </a:solidFill>
                <a:latin typeface="Segoe UI"/>
              </a:rPr>
              <a:t>   — live demo checkpoint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47725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Run an extraction and open the generated Excel — show the MO/parameter structure.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5724144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B84B"/>
                </a:solidFill>
                <a:latin typeface="Segoe UI"/>
              </a:rPr>
              <a:t>Click path:  </a:t>
            </a:r>
            <a:r>
              <a:rPr sz="1050" b="0" i="0">
                <a:solidFill>
                  <a:srgbClr val="A9B7C9"/>
                </a:solidFill>
                <a:latin typeface="Consolas"/>
              </a:rPr>
              <a:t>Dashboard → Configuration → Configuration Data Extractor → pick scope → Extract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Write-back: RET, mass-modify &amp;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532120" cy="3291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Reads are cheap; writes are governed.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Analytics never mutate the network — CM changes go through explicit, reviewable flows.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RET Management.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Read + write electrical tilt across vendors; Huawei RET MOD command formatting and tilt handling are handled centrally.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Nokia mass-modify.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nokia_mass_modify + Excel re-import: export MOs → edit in Excel → validate → write back to a plan confId.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CM Parameter Audit.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Live scanner that diffs current parameters against expected, exportable to Excel.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Config History.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Every applied change is recorded — what/when/who for rollback and forensics.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49240" cy="3246120"/>
          </a:xfrm>
          <a:prstGeom prst="roundRect">
            <a:avLst>
              <a:gd name="adj" fmla="val 4000"/>
            </a:avLst>
          </a:prstGeom>
          <a:solidFill>
            <a:srgbClr val="0C131D"/>
          </a:solidFill>
          <a:ln w="12700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417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SAFE WRITE FLOW</a:t>
            </a:r>
          </a:p>
        </p:txBody>
      </p:sp>
      <p:sp>
        <p:nvSpPr>
          <p:cNvPr id="9" name="Oval 8"/>
          <p:cNvSpPr/>
          <p:nvPr/>
        </p:nvSpPr>
        <p:spPr>
          <a:xfrm>
            <a:off x="6583680" y="1828800"/>
            <a:ext cx="146304" cy="146304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783080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1  Export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read live MOs (confId 1) → Excel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56832" y="2011680"/>
            <a:ext cx="0" cy="201168"/>
          </a:xfrm>
          <a:prstGeom prst="bentConnector3">
            <a:avLst/>
          </a:prstGeom>
          <a:ln w="1270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583680" y="2258568"/>
            <a:ext cx="146304" cy="146304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212848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2  Edit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operator edits values in Excel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56832" y="2441448"/>
            <a:ext cx="0" cy="201167"/>
          </a:xfrm>
          <a:prstGeom prst="bentConnector3">
            <a:avLst/>
          </a:prstGeom>
          <a:ln w="1270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583680" y="2688335"/>
            <a:ext cx="146304" cy="146304"/>
          </a:xfrm>
          <a:prstGeom prst="ellipse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642615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3  Validate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re-import checks types / ranges / DNs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56832" y="2871215"/>
            <a:ext cx="0" cy="201168"/>
          </a:xfrm>
          <a:prstGeom prst="bentConnector3">
            <a:avLst/>
          </a:prstGeom>
          <a:ln w="1270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583680" y="3118103"/>
            <a:ext cx="146304" cy="146304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3072383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4  Stage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write to a plan confId (not live)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56832" y="3300983"/>
            <a:ext cx="0" cy="201168"/>
          </a:xfrm>
          <a:prstGeom prst="bentConnector3">
            <a:avLst/>
          </a:prstGeom>
          <a:ln w="1270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583680" y="3547871"/>
            <a:ext cx="146304" cy="146304"/>
          </a:xfrm>
          <a:prstGeom prst="ellipse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502151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5  Provision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operations/v1 applies the plan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56832" y="3730751"/>
            <a:ext cx="0" cy="201168"/>
          </a:xfrm>
          <a:prstGeom prst="bentConnector3">
            <a:avLst/>
          </a:prstGeom>
          <a:ln w="12700">
            <a:solidFill>
              <a:srgbClr val="3042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583680" y="3977639"/>
            <a:ext cx="146304" cy="146304"/>
          </a:xfrm>
          <a:prstGeom prst="ellipse">
            <a:avLst/>
          </a:prstGeom>
          <a:solidFill>
            <a:srgbClr val="E55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19"/>
            <a:ext cx="4526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EEF7"/>
                </a:solidFill>
                <a:latin typeface="Segoe UI"/>
              </a:rPr>
              <a:t>6  Record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   Config History logs the change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06 · CM write-back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Radio analytics engine: one scoring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Segoe UI"/>
              </a:rPr>
              <a:t>Every radio insight module emits the same normalized </a:t>
            </a:r>
            <a:r>
              <a:rPr sz="1200" b="1" i="0">
                <a:solidFill>
                  <a:srgbClr val="3DD6B0"/>
                </a:solidFill>
                <a:latin typeface="Consolas"/>
              </a:rPr>
              <a:t>issue</a:t>
            </a:r>
            <a:r>
              <a:rPr sz="1200" b="0" i="0">
                <a:solidFill>
                  <a:srgbClr val="A9B7C9"/>
                </a:solidFill>
                <a:latin typeface="Segoe UI"/>
              </a:rPr>
              <a:t> — from core/radio/scoring.py: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36192"/>
            <a:ext cx="5852160" cy="3520440"/>
          </a:xfrm>
          <a:prstGeom prst="roundRect">
            <a:avLst>
              <a:gd name="adj" fmla="val 3000"/>
            </a:avLst>
          </a:prstGeom>
          <a:solidFill>
            <a:srgbClr val="0A1018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91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D6B0"/>
                </a:solidFill>
                <a:latin typeface="Consolas"/>
              </a:rPr>
              <a:t>def issue(module, category, title,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705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D6B0"/>
                </a:solidFill>
                <a:latin typeface="Consolas"/>
              </a:rPr>
              <a:t>          summary, score, cells, …):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494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EF7"/>
                </a:solidFill>
                <a:latin typeface="Consolas"/>
              </a:rPr>
              <a:t>    severity = severity_from_score(score)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283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Consolas"/>
              </a:rPr>
              <a:t>    return {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8072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BC1FF"/>
                </a:solidFill>
                <a:latin typeface="Consolas"/>
              </a:rPr>
              <a:t>      'id': stable_id(module, category,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0861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BC1FF"/>
                </a:solidFill>
                <a:latin typeface="Consolas"/>
              </a:rPr>
              <a:t>                      title, site_id, cells),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3649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EF7"/>
                </a:solidFill>
                <a:latin typeface="Consolas"/>
              </a:rPr>
              <a:t>      'severity': severity,   # Crit→Info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6438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EF7"/>
                </a:solidFill>
                <a:latin typeface="Consolas"/>
              </a:rPr>
              <a:t>      'score': round(score, 2),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9227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Consolas"/>
              </a:rPr>
              <a:t>      'cells': cells, 'site_id': …,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2016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2B84B"/>
                </a:solidFill>
                <a:latin typeface="Consolas"/>
              </a:rPr>
              <a:t>      'evidence': {kpi, pre, post, delta},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480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Consolas"/>
              </a:rPr>
              <a:t>      'recommendation': …,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7594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Consolas"/>
              </a:rPr>
              <a:t>      'source_url': '/capacity-hotspots'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DD6B0"/>
                </a:solidFill>
                <a:latin typeface="Segoe UI"/>
              </a:rPr>
              <a:t>Why this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883664"/>
            <a:ext cx="507492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Uniform issue shape.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Filtering, sorting, severity roll-ups and the UI are written once and reused by every module.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Deterministic IDs.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stable_id = sha256(parts)[:16] — the same problem keeps the same id across runs, so dedup &amp; tracking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Bounded, additive scores.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bounded_score sums capped signals → 0–100; thresholds map to Critical/High/Medium/Low/Info.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Evidence travels with the verdict.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pre/post/delta KPIs are attached, so “why” is auditable, not a black box.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93792"/>
            <a:ext cx="1280160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E554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89220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5548A"/>
                </a:solidFill>
                <a:latin typeface="Segoe UI"/>
              </a:rPr>
              <a:t>Critical ≥85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47672" y="5193792"/>
            <a:ext cx="914400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E99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47672" y="5189220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9913A"/>
                </a:solidFill>
                <a:latin typeface="Segoe UI"/>
              </a:rPr>
              <a:t>High ≥70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26663" y="5193792"/>
            <a:ext cx="1097280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26663" y="518922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84B"/>
                </a:solidFill>
                <a:latin typeface="Segoe UI"/>
              </a:rPr>
              <a:t>Medium ≥45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8536" y="5193792"/>
            <a:ext cx="731520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DD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5189220"/>
            <a:ext cx="73152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3DD6B0"/>
                </a:solidFill>
                <a:latin typeface="Segoe UI"/>
              </a:rPr>
              <a:t>Low &gt;0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648" y="5193792"/>
            <a:ext cx="731520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748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5189220"/>
            <a:ext cx="73152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74869C"/>
                </a:solidFill>
                <a:latin typeface="Segoe UI"/>
              </a:rPr>
              <a:t>Info 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07 · Radio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The insight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Segoe UI"/>
              </a:rPr>
              <a:t>Same engine, different recipes — each module scores a specific failure mode: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64008" cy="74980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591056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Capacity Hotspots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1892807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busy-hour PRB/utilization delta vs baseline → carrier/split advice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508760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1508760"/>
            <a:ext cx="64008" cy="749808"/>
          </a:xfrm>
          <a:prstGeom prst="rect">
            <a:avLst/>
          </a:prstGeom>
          <a:solidFill>
            <a:srgbClr val="E55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591056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Sleeping Cells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92807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traffic/accessibility collapse vs history → outage-suspect cells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13432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313432"/>
            <a:ext cx="64008" cy="749808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2395727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Overshooting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2697479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TA / distance vs footprint → down-tilt / power candidates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313432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2313432"/>
            <a:ext cx="64008" cy="749808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2395727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Layer Coverage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697479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missing LTE band per sector from coverage payload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118103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118103"/>
            <a:ext cx="64008" cy="749808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3200399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Neighbor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02151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relation health, missing/one-way neighbors, HO KPIs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118103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3118103"/>
            <a:ext cx="64008" cy="74980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3200399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Sector Health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3502151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per-sector KPI composite, all-cells variant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22775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922775"/>
            <a:ext cx="64008" cy="749808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4005071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SON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" y="4306823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cross-cutting optimization insights &amp; priorities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3922775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4768" y="3922775"/>
            <a:ext cx="64008" cy="749808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4005071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Change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4306823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before/after KPI deltas around a config change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727448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727448"/>
            <a:ext cx="64008" cy="749808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4809744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RF Optimization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" y="5111496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workbench aggregating candidate actions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44768" y="4727448"/>
            <a:ext cx="5532120" cy="749808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4727448"/>
            <a:ext cx="64008" cy="749808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4809744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EEF7"/>
                </a:solidFill>
                <a:latin typeface="Segoe UI"/>
              </a:rPr>
              <a:t>Radio Morning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5111496"/>
            <a:ext cx="516635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A9B7C9"/>
                </a:solidFill>
                <a:latin typeface="Segoe UI"/>
              </a:rPr>
              <a:t>overnight roll-up of the above into one brief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742432"/>
            <a:ext cx="11155680" cy="365760"/>
          </a:xfrm>
          <a:prstGeom prst="roundRect">
            <a:avLst>
              <a:gd name="adj" fmla="val 12000"/>
            </a:avLst>
          </a:prstGeom>
          <a:solidFill>
            <a:srgbClr val="221C0E"/>
          </a:solidFill>
          <a:ln w="12700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742432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⟳  SWITCH TO TOOL:  </a:t>
            </a:r>
            <a:r>
              <a:rPr sz="1050" b="0" i="0">
                <a:solidFill>
                  <a:srgbClr val="A9B7C9"/>
                </a:solidFill>
                <a:latin typeface="Segoe UI"/>
              </a:rPr>
              <a:t>open any two of these side-by-side and show the identical issue table + severity roll-up.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07 · Radio engine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Frontend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566160" cy="457200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28016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Theme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body.dark-mode is the single switch; all CSS keys off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Persisted in localStorage (primenet-theme); applied on every 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7472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primenet:theme-change event syncs Chart.js instances live.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2519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DD6B0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Dark tokens (--dm-bg/panel/text…) in common.css; module CSS inherits.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28016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280160"/>
            <a:ext cx="3566160" cy="457200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7" y="128016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Shared shells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7" y="192024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common.css / common.js — header, toggle, tables, buttons.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radio_module.html — one filter shell for all radio modules.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347472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dashboard = constellation.css + constellation.js (always-dark deck).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7" y="42519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Cache-bust ?v=X.X bumped only on files actually 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28016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1280160"/>
            <a:ext cx="3566160" cy="457200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8" y="128016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2"/>
                </a:solidFill>
                <a:latin typeface="Segoe UI"/>
              </a:rPr>
              <a:t>Rendering &amp; 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192024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Server-rendered Jinja + progressive JS per module.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Chart.js for KPI trends; theme-aware defaults.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347472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Leaflet maps — CSP allow-lists OSM &amp; ArcGIS tile hosts.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728" y="42519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08CFF"/>
                </a:solidFill>
                <a:latin typeface="Segoe UI"/>
              </a:rPr>
              <a:t>▸ </a:t>
            </a:r>
            <a:r>
              <a:rPr sz="1100" b="0" i="0">
                <a:solidFill>
                  <a:srgbClr val="A9B7C9"/>
                </a:solidFill>
                <a:latin typeface="Segoe UI"/>
              </a:rPr>
              <a:t>unpkg is the only external script/style origin permitted.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08 · Frontend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Deployment &amp;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532120" cy="3474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Single container.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Dockerfile + gunicorn (GUNICORN_WORKERS/THREADS/TIMEOUT); docker-compose maps PRIMENET_HTTP_PORT.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Stateful volume.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Mount NCM_DATA_ROOT=/data — databases, raw, sync_downloads persist outside the image.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Config via env.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.env holds SFTP + CM/FM creds and tuning; nothing secret is committed.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Health probe.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/health &amp; /api/health report locked / degraded / ok for LBs and orchestrators.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Hardening switches.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NCM_ENABLE_HSTS when HTTPS-only; NCM_CONTAINER disables dev-only Windows helpers.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Bootstrap. </a:t>
            </a:r>
            <a:r>
              <a:rPr sz="1200" b="0" i="0">
                <a:solidFill>
                  <a:srgbClr val="E8EEF7"/>
                </a:solidFill>
                <a:latin typeface="Segoe UI"/>
              </a:rPr>
              <a:t>First run seeds an admin from NCM_BOOTSTRAP_ADMIN_* only when the users table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49240" cy="3520440"/>
          </a:xfrm>
          <a:prstGeom prst="roundRect">
            <a:avLst>
              <a:gd name="adj" fmla="val 4000"/>
            </a:avLst>
          </a:prstGeom>
          <a:solidFill>
            <a:srgbClr val="0C131D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417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A9B7C9"/>
                </a:solidFill>
                <a:latin typeface="Segoe UI"/>
              </a:rPr>
              <a:t>KEY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BC1FF"/>
                </a:solidFill>
                <a:latin typeface="Consolas"/>
              </a:rPr>
              <a:t>NCM_DATA_ROOT=/data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48255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4869C"/>
                </a:solidFill>
                <a:latin typeface="Consolas"/>
              </a:rPr>
              <a:t>NCM_CONTAINER=1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1343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D6B0"/>
                </a:solidFill>
                <a:latin typeface="Consolas"/>
              </a:rPr>
              <a:t>GUNICORN_WORKERS=2  THREADS=4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78608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2B84B"/>
                </a:solidFill>
                <a:latin typeface="Consolas"/>
              </a:rPr>
              <a:t>FLASK_SECRET_KEY=…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4378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4869C"/>
                </a:solidFill>
                <a:latin typeface="Consolas"/>
              </a:rPr>
              <a:t>SESSION_LIFETIME_HOURS=2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DD6B0"/>
                </a:solidFill>
                <a:latin typeface="Consolas"/>
              </a:rPr>
              <a:t>NOKIA_PM_HOST / HUAWEI_PM_HOST / METADATA_HOST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74136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08CFF"/>
                </a:solidFill>
                <a:latin typeface="Consolas"/>
              </a:rPr>
              <a:t>NOKIA_CM_HOST / USER /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63931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4869C"/>
                </a:solidFill>
                <a:latin typeface="Consolas"/>
              </a:rPr>
              <a:t>NOKIA_CM_MO_BATCH_SIZE=150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904487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4869C"/>
                </a:solidFill>
                <a:latin typeface="Consolas"/>
              </a:rPr>
              <a:t>NOKIA_CM_BATCH_DELAY_SEC=0.4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169663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5548A"/>
                </a:solidFill>
                <a:latin typeface="Consolas"/>
              </a:rPr>
              <a:t>NOKIA_FM_* (Keycloak/OAuth, Fault Mgmt)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2B84B"/>
                </a:solidFill>
                <a:latin typeface="Consolas"/>
              </a:rPr>
              <a:t>NCM_ENABLE_HSTS=1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08 ·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F1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BC1FF"/>
                </a:solidFill>
                <a:latin typeface="Segoe UI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Extending PrimeNet: add a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" cy="1143000"/>
          </a:xfrm>
          <a:prstGeom prst="rect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1453895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Scaffold the folder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17830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modules/&lt;name&gt;/ with routes.py, templates/, static/, logic.py — copy an existing module as the template.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48640" cy="1143000"/>
          </a:xfrm>
          <a:prstGeom prst="rect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325880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1453895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Define the blueprint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78308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&lt;name&gt;_bp = Blueprint(..., template_folder="templates"); guard routes with login_required.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06039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606039"/>
            <a:ext cx="548640" cy="1143000"/>
          </a:xfrm>
          <a:prstGeom prst="rect">
            <a:avLst/>
          </a:prstGeom>
          <a:solidFill>
            <a:srgbClr val="B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06039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73405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Register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3063239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Import + app.register_blueprint(&lt;name&gt;_bp) in app.py — the only global edit.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606039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06039"/>
            <a:ext cx="548640" cy="1143000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2606039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273405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Wire visibility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3063239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Add the route to core/module_access.py with all / admin / admin_or_noc.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86200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86200"/>
            <a:ext cx="548640" cy="1143000"/>
          </a:xfrm>
          <a:prstGeom prst="rect">
            <a:avLst/>
          </a:prstGeom>
          <a:solidFill>
            <a:srgbClr val="E99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86200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6152" y="4014215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Reuse the shell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34340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Load common.css/js (+ radio_module.html for radio filters) so theme &amp; chrome come free.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886200"/>
            <a:ext cx="5440680" cy="11430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886200"/>
            <a:ext cx="548640" cy="1143000"/>
          </a:xfrm>
          <a:prstGeom prst="rect">
            <a:avLst/>
          </a:prstGeom>
          <a:solidFill>
            <a:srgbClr val="E55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3886200"/>
            <a:ext cx="548640" cy="1143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F1722"/>
                </a:solidFill>
                <a:latin typeface="Segoe UI Light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4014215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EEF7"/>
                </a:solidFill>
                <a:latin typeface="Segoe UI"/>
              </a:rPr>
              <a:t>Emit issues (if analytic)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434340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A9B7C9"/>
                </a:solidFill>
                <a:latin typeface="Segoe UI"/>
              </a:rPr>
              <a:t>Return core/radio.scoring.issue() dicts to inherit filtering, severity &amp; UI.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" y="6382512"/>
            <a:ext cx="11185855" cy="0"/>
          </a:xfrm>
          <a:prstGeom prst="bentConnector3">
            <a:avLst/>
          </a:prstGeom>
          <a:ln w="9525">
            <a:solidFill>
              <a:srgbClr val="2230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02920" y="6428232"/>
            <a:ext cx="5943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BC1FF"/>
                </a:solidFill>
                <a:latin typeface="Segoe UI"/>
              </a:rPr>
              <a:t>PrimeNet</a:t>
            </a:r>
            <a:r>
              <a:rPr sz="900" b="0" i="0">
                <a:solidFill>
                  <a:srgbClr val="74869C"/>
                </a:solidFill>
                <a:latin typeface="Segoe UI"/>
              </a:rPr>
              <a:t>  ·  Engineering Deep-Dive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09847" y="642823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4869C"/>
                </a:solidFill>
                <a:latin typeface="Segoe UI"/>
              </a:rPr>
              <a:t>08 · Extending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7175" y="642823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A9B7C9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628591" y="449396"/>
            <a:ext cx="162732" cy="58353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628591" y="439127"/>
            <a:ext cx="557053" cy="1026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628591" y="449396"/>
            <a:ext cx="1074048" cy="99849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7492193" y="308200"/>
            <a:ext cx="136398" cy="14119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60540" y="5490482"/>
            <a:ext cx="918645" cy="25288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657690" y="1488096"/>
            <a:ext cx="1504275" cy="11894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161965" y="435212"/>
            <a:ext cx="312149" cy="117182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029777" y="3225067"/>
            <a:ext cx="1108821" cy="67787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197883" y="3266830"/>
            <a:ext cx="831894" cy="63610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138710" y="3266830"/>
            <a:ext cx="59173" cy="66645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123019" y="5953054"/>
            <a:ext cx="617008" cy="24796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78465" y="5083505"/>
            <a:ext cx="744554" cy="111751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183962" y="439127"/>
            <a:ext cx="1682" cy="67941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244112" y="3933284"/>
            <a:ext cx="894598" cy="12047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474114" y="212678"/>
            <a:ext cx="198849" cy="22253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552244" y="3242113"/>
            <a:ext cx="477533" cy="66082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314518" y="6026898"/>
            <a:ext cx="449164" cy="34381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15273" y="5492632"/>
            <a:ext cx="605411" cy="92362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10640509" y="303055"/>
            <a:ext cx="74365" cy="3652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39904" y="1447895"/>
            <a:ext cx="1062735" cy="61654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639904" y="2064437"/>
            <a:ext cx="1119103" cy="20524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0440974" y="6615452"/>
            <a:ext cx="51656" cy="18075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0411006" y="6788089"/>
            <a:ext cx="29968" cy="811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7492193" y="308200"/>
            <a:ext cx="691769" cy="81033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183962" y="1118537"/>
            <a:ext cx="575045" cy="115114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0411006" y="6615452"/>
            <a:ext cx="81624" cy="17263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0138710" y="3902939"/>
            <a:ext cx="891067" cy="3034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901192" y="3732324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10380" y="4141683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28591" y="449396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540" y="5743362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61965" y="1607041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138598" y="3225067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97883" y="3266830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91323" y="1032927"/>
            <a:ext cx="41148" cy="4114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40027" y="5953054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78465" y="508350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85644" y="439127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244112" y="4053760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72963" y="21267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52244" y="3242113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63682" y="6026898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06448" y="6316894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15273" y="5492632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20684" y="6416253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714874" y="668341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7690" y="1488096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70839" y="2991198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9904" y="2064437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151" y="2646270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78193" y="401243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23019" y="6201015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14518" y="637070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0974" y="6796206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183962" y="1118537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492630" y="661545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029777" y="3902939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02639" y="1447895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138710" y="3933284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474114" y="435212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411006" y="6788089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79185" y="549048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04225" y="1033948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583032" y="5272374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640509" y="303055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92193" y="308200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59007" y="2269683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3232" y="42062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B84B"/>
                </a:solidFill>
                <a:latin typeface="Segoe UI"/>
              </a:rPr>
              <a:t>APPENDIX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" y="640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EEF7"/>
                </a:solidFill>
                <a:latin typeface="Segoe UI Light"/>
              </a:rPr>
              <a:t>End-to-end demo runbook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A9B7C9"/>
                </a:solidFill>
                <a:latin typeface="Segoe UI"/>
              </a:rPr>
              <a:t>A single continuous click-path — narrate each subsystem as you pass through it: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1691640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" y="1691640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169164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" y="1691640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Login &amp; Dashboard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77639" y="1691640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Show the constellation deck &amp; RBAC-filtered nav.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41080" y="1691640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Overview of modules by role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2920" y="2363724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02920" y="2363724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2920" y="236372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" y="2363724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Sync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77639" y="2363724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Trigger/observe a pull→load; then Network Health for freshness.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41080" y="2363724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ETL taxonomy in action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2920" y="3035808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2920" y="3035808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920" y="3035808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7280" y="3035808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Performance Explorer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77639" y="3035808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Query KPIs across vendor/RAT.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41080" y="3035808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Automatic column detection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02920" y="3707891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02920" y="3707891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3707891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7280" y="3707891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CM Extractor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977639" y="3707891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Extract a scope → open the Excel output.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41080" y="3707891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One UI, Nokia REST + Huawei MML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02920" y="4379976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02920" y="4379976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0" y="4379976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97280" y="4379976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Capacity Hotspots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77639" y="4379976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Sort by score; expand evidence on a row.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41080" y="4379976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The shared issue/scoring model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02920" y="5052060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02920" y="5052060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0" y="505206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97280" y="5052060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RET Management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77639" y="5052060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Read tilt; walk the safe write flow (don't apply).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41080" y="5052060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Governed CM write-back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0" y="5724144"/>
            <a:ext cx="11155680" cy="603504"/>
          </a:xfrm>
          <a:prstGeom prst="roundRect">
            <a:avLst>
              <a:gd name="adj" fmla="val 5000"/>
            </a:avLst>
          </a:prstGeom>
          <a:solidFill>
            <a:srgbClr val="141E2B"/>
          </a:solidFill>
          <a:ln w="12700">
            <a:solidFill>
              <a:srgbClr val="30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2920" y="5724144"/>
            <a:ext cx="457200" cy="603504"/>
          </a:xfrm>
          <a:prstGeom prst="rect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2920" y="572414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F1722"/>
                </a:solidFill>
                <a:latin typeface="Segoe UI Light"/>
              </a:rPr>
              <a:t>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97280" y="5724144"/>
            <a:ext cx="283464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EEF7"/>
                </a:solidFill>
                <a:latin typeface="Segoe UI"/>
              </a:rPr>
              <a:t>Config History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77639" y="5724144"/>
            <a:ext cx="457200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A9B7C9"/>
                </a:solidFill>
                <a:latin typeface="Segoe UI"/>
              </a:rPr>
              <a:t>Show a recorded change.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41080" y="5724144"/>
            <a:ext cx="288036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3DD6B0"/>
                </a:solidFill>
                <a:latin typeface="Segoe UI"/>
              </a:rPr>
              <a:t>↳ Auditability &amp; rollback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515273" y="3838919"/>
            <a:ext cx="676173" cy="18936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515273" y="3838919"/>
            <a:ext cx="577808" cy="70415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515273" y="3068439"/>
            <a:ext cx="1303482" cy="77048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1267693" y="2725536"/>
            <a:ext cx="684544" cy="4678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267693" y="3193428"/>
            <a:ext cx="425784" cy="12395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755388" y="3193428"/>
            <a:ext cx="512305" cy="94560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91446" y="4028285"/>
            <a:ext cx="1780978" cy="19324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91446" y="4028285"/>
            <a:ext cx="137556" cy="36283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093081" y="4028285"/>
            <a:ext cx="98365" cy="51479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191446" y="3068439"/>
            <a:ext cx="627309" cy="95984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147524" y="2080725"/>
            <a:ext cx="1103798" cy="142994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062435" y="2280872"/>
            <a:ext cx="1188887" cy="122979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51322" y="3510669"/>
            <a:ext cx="73444" cy="150866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98681" y="3510669"/>
            <a:ext cx="1152641" cy="48572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51322" y="3510669"/>
            <a:ext cx="711417" cy="61293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251322" y="3510669"/>
            <a:ext cx="655265" cy="132133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004997" y="5438235"/>
            <a:ext cx="674341" cy="50439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47524" y="1659245"/>
            <a:ext cx="1171437" cy="42148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6643" y="1438242"/>
            <a:ext cx="1140881" cy="64248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47524" y="1689728"/>
            <a:ext cx="290994" cy="39099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05427" y="5019330"/>
            <a:ext cx="1219339" cy="53321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5427" y="5552542"/>
            <a:ext cx="1291335" cy="96348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1753723" y="5198641"/>
            <a:ext cx="220879" cy="141766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329002" y="4221529"/>
            <a:ext cx="1643422" cy="16959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231925" y="102875"/>
            <a:ext cx="688195" cy="30787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20120" y="102875"/>
            <a:ext cx="308859" cy="95418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5575626" y="408401"/>
            <a:ext cx="866237" cy="149924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41863" y="408401"/>
            <a:ext cx="830072" cy="160397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318961" y="481592"/>
            <a:ext cx="1204925" cy="117765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62435" y="1659245"/>
            <a:ext cx="1256526" cy="62162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1231925" y="410748"/>
            <a:ext cx="1087036" cy="124849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18961" y="1659245"/>
            <a:ext cx="249953" cy="104469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318961" y="1659245"/>
            <a:ext cx="280837" cy="11202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318961" y="503367"/>
            <a:ext cx="1293740" cy="115587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18961" y="1301652"/>
            <a:ext cx="722849" cy="35759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6643" y="1438242"/>
            <a:ext cx="360114" cy="174342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66757" y="3181662"/>
            <a:ext cx="1229953" cy="123293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6757" y="3181662"/>
            <a:ext cx="731924" cy="81473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370821" y="4543078"/>
            <a:ext cx="722260" cy="123428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708044" y="5777365"/>
            <a:ext cx="1662777" cy="29103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329002" y="4391120"/>
            <a:ext cx="675995" cy="155151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093081" y="4543078"/>
            <a:ext cx="911916" cy="139955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843763" y="1575048"/>
            <a:ext cx="1731863" cy="33259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75626" y="1907641"/>
            <a:ext cx="1243129" cy="116079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11753723" y="5198641"/>
            <a:ext cx="409397" cy="162981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11837271" y="5509796"/>
            <a:ext cx="325849" cy="131865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11075225" y="5608485"/>
            <a:ext cx="1087895" cy="121996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243651" y="4854158"/>
            <a:ext cx="1436509" cy="9566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243651" y="4854158"/>
            <a:ext cx="1510072" cy="34448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243651" y="4854158"/>
            <a:ext cx="1593620" cy="65563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243651" y="4854158"/>
            <a:ext cx="831574" cy="75432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243651" y="4139037"/>
            <a:ext cx="511737" cy="71512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68914" y="1575048"/>
            <a:ext cx="1274849" cy="112888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99798" y="1575048"/>
            <a:ext cx="1243965" cy="19621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3612701" y="503367"/>
            <a:ext cx="231062" cy="107168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228979" y="1057060"/>
            <a:ext cx="1614784" cy="51798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95193" y="481592"/>
            <a:ext cx="928693" cy="136866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23886" y="481592"/>
            <a:ext cx="88815" cy="2177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228979" y="481592"/>
            <a:ext cx="1294907" cy="57546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3041810" y="481592"/>
            <a:ext cx="482076" cy="82006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523886" y="481592"/>
            <a:ext cx="1614392" cy="23054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42348" y="2745941"/>
            <a:ext cx="1755409" cy="47723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342348" y="1850120"/>
            <a:ext cx="149019" cy="89582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342348" y="1218516"/>
            <a:ext cx="374695" cy="152742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321289" y="2650709"/>
            <a:ext cx="776468" cy="57246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321289" y="2650709"/>
            <a:ext cx="1372188" cy="66667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321289" y="2650709"/>
            <a:ext cx="434099" cy="148832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680160" y="5198641"/>
            <a:ext cx="73563" cy="61220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680160" y="5509796"/>
            <a:ext cx="157111" cy="30105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 flipV="1">
            <a:off x="11075225" y="5608485"/>
            <a:ext cx="604935" cy="20236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643" y="1438242"/>
            <a:ext cx="1431875" cy="2514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643" y="410748"/>
            <a:ext cx="1225282" cy="102749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097757" y="2725536"/>
            <a:ext cx="854480" cy="49763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90461" y="4316801"/>
            <a:ext cx="1434305" cy="70252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90461" y="3996395"/>
            <a:ext cx="208220" cy="32040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62435" y="1689728"/>
            <a:ext cx="376083" cy="59114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62435" y="2280872"/>
            <a:ext cx="357994" cy="60467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62435" y="1771267"/>
            <a:ext cx="1537363" cy="50960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1075225" y="5198641"/>
            <a:ext cx="678498" cy="40984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1231925" y="410748"/>
            <a:ext cx="206593" cy="127898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438518" y="1057060"/>
            <a:ext cx="790461" cy="63266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24766" y="5019330"/>
            <a:ext cx="1383278" cy="104907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324766" y="5019330"/>
            <a:ext cx="71996" cy="149670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324766" y="4832005"/>
            <a:ext cx="581821" cy="18732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324766" y="5019330"/>
            <a:ext cx="808272" cy="62972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596710" y="4123604"/>
            <a:ext cx="1366029" cy="290994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96710" y="4414598"/>
            <a:ext cx="1309877" cy="41740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420429" y="2703935"/>
            <a:ext cx="1148485" cy="18160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1098681" y="2885542"/>
            <a:ext cx="321748" cy="111085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568914" y="1850253"/>
            <a:ext cx="26279" cy="85368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95193" y="503367"/>
            <a:ext cx="1017508" cy="1346886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228979" y="1057060"/>
            <a:ext cx="366214" cy="79319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2906587" y="4832005"/>
            <a:ext cx="801457" cy="123639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68914" y="1771267"/>
            <a:ext cx="30884" cy="932668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568914" y="2703935"/>
            <a:ext cx="393825" cy="1419669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568914" y="1301652"/>
            <a:ext cx="472896" cy="1402283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599798" y="503367"/>
            <a:ext cx="1012903" cy="1267900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2228979" y="1057060"/>
            <a:ext cx="370819" cy="714207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3041810" y="503367"/>
            <a:ext cx="570891" cy="798285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28979" y="1057060"/>
            <a:ext cx="812831" cy="244592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06587" y="4832005"/>
            <a:ext cx="226451" cy="817051"/>
          </a:xfrm>
          <a:prstGeom prst="bentConnector3">
            <a:avLst/>
          </a:prstGeom>
          <a:ln w="9525">
            <a:solidFill>
              <a:srgbClr val="2230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5515273" y="3838919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267693" y="319342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191446" y="4028285"/>
            <a:ext cx="18288" cy="1828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251322" y="3510669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79338" y="5438235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7524" y="2080725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05427" y="5552542"/>
            <a:ext cx="27432" cy="27432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454190" y="287215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974602" y="6616308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972424" y="4221529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920120" y="10287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441863" y="408401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318961" y="1659245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66757" y="3181662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370821" y="5777365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329002" y="4391120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093081" y="4543078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575626" y="1907641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163120" y="6828453"/>
            <a:ext cx="41148" cy="4114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243651" y="485415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843763" y="1575048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523886" y="48159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342348" y="2745941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21289" y="2650709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680160" y="5810850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43" y="1438242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097757" y="322317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952237" y="2725536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90461" y="4316801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491367" y="1850120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62435" y="2280872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753723" y="5198641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438518" y="1689728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31925" y="410748"/>
            <a:ext cx="41148" cy="4114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717043" y="1218516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818755" y="3068439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324766" y="5019330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596710" y="4414598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420429" y="288554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595193" y="1850253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37271" y="5509796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08044" y="6068404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68914" y="2703935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416302" y="4401708"/>
            <a:ext cx="41148" cy="4114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223226" y="6784631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599798" y="1771267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420397" y="2255976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12701" y="503367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98681" y="3996395"/>
            <a:ext cx="18288" cy="1828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2962739" y="4123604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531702" y="3108101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693477" y="3317382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004997" y="5942633"/>
            <a:ext cx="27432" cy="27432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2228979" y="1057060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075225" y="5608485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041810" y="1301652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014836" y="6449296"/>
            <a:ext cx="18288" cy="18288"/>
          </a:xfrm>
          <a:prstGeom prst="ellipse">
            <a:avLst/>
          </a:prstGeom>
          <a:solidFill>
            <a:srgbClr val="3A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2396762" y="6516031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755388" y="4139037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138278" y="712132"/>
            <a:ext cx="41148" cy="41148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71775" y="6602069"/>
            <a:ext cx="27432" cy="27432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906587" y="4832005"/>
            <a:ext cx="41148" cy="41148"/>
          </a:xfrm>
          <a:prstGeom prst="ellipse">
            <a:avLst/>
          </a:prstGeom>
          <a:solidFill>
            <a:srgbClr val="8B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3133038" y="5649056"/>
            <a:ext cx="18288" cy="18288"/>
          </a:xfrm>
          <a:prstGeom prst="ellipse">
            <a:avLst/>
          </a:prstGeom>
          <a:solidFill>
            <a:srgbClr val="3DD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271935" y="2012379"/>
            <a:ext cx="27432" cy="27432"/>
          </a:xfrm>
          <a:prstGeom prst="ellipse">
            <a:avLst/>
          </a:prstGeom>
          <a:solidFill>
            <a:srgbClr val="A9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8BC1FF"/>
                </a:solidFill>
                <a:latin typeface="Segoe UI"/>
              </a:rPr>
              <a:t>TAKEAWAYS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77240" y="23774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Segoe UI Light"/>
              </a:rPr>
              <a:t>One contract, 37 modules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22960" y="35204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A modular monolith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trades microservice overhead for a single, legible, single-container deploy.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Data flow is deterministic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— a path taxonomy + idempotent ETL make SQLite a feature, not a limitation.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Two vendors, one surface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— REST vs MML complexity is absorbed in core/, never in modules.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8BC1FF"/>
                </a:solidFill>
                <a:latin typeface="Segoe UI"/>
              </a:rPr>
              <a:t>▸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Analytics share one scoring model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— uniform issues make new insights cheap and auditable.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41E2B"/>
          </a:solidFill>
          <a:ln w="12700">
            <a:solidFill>
              <a:srgbClr val="F2B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B84B"/>
                </a:solidFill>
                <a:latin typeface="Segoe UI"/>
              </a:rPr>
              <a:t>Questions?  </a:t>
            </a:r>
            <a:r>
              <a:rPr sz="1300" b="0" i="0">
                <a:solidFill>
                  <a:srgbClr val="E8EEF7"/>
                </a:solidFill>
                <a:latin typeface="Segoe UI"/>
              </a:rPr>
              <a:t>Let's go back to the tool and dig into whatever you want to see.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