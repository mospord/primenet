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545177" y="1034523"/>
            <a:ext cx="1402893" cy="7855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3948070" y="360563"/>
            <a:ext cx="197760" cy="67396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182414" y="496768"/>
            <a:ext cx="753580" cy="130514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935994" y="370283"/>
            <a:ext cx="308031" cy="12648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86541" y="496768"/>
            <a:ext cx="449453" cy="52199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3310" y="2507894"/>
            <a:ext cx="502553" cy="21254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33310" y="2507894"/>
            <a:ext cx="1256128" cy="4600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5525085" y="2055802"/>
            <a:ext cx="1008225" cy="4520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33310" y="1801916"/>
            <a:ext cx="649104" cy="70597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57135" y="2973942"/>
            <a:ext cx="249970" cy="50605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78002" y="3479994"/>
            <a:ext cx="229103" cy="110263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75080" y="3166306"/>
            <a:ext cx="432025" cy="31368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57135" y="1412464"/>
            <a:ext cx="269504" cy="156147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135" y="2973942"/>
            <a:ext cx="1395814" cy="37936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135" y="2973942"/>
            <a:ext cx="20867" cy="160868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9907" y="2873135"/>
            <a:ext cx="407228" cy="10080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135" y="2973942"/>
            <a:ext cx="805157" cy="137601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1656" y="622109"/>
            <a:ext cx="1296736" cy="96865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844" y="622109"/>
            <a:ext cx="848812" cy="41526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760916" y="5596994"/>
            <a:ext cx="1414692" cy="7355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75608" y="5670551"/>
            <a:ext cx="1227427" cy="33114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097625" y="5192472"/>
            <a:ext cx="77983" cy="47807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75608" y="4554755"/>
            <a:ext cx="604454" cy="111579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75608" y="5670551"/>
            <a:ext cx="1522995" cy="38769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509355" y="803042"/>
            <a:ext cx="539439" cy="72793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09355" y="1530972"/>
            <a:ext cx="67521" cy="16717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82422" y="1530972"/>
            <a:ext cx="526933" cy="154955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09355" y="1530972"/>
            <a:ext cx="639037" cy="5978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58906" y="461869"/>
            <a:ext cx="750449" cy="106910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403035" y="6001692"/>
            <a:ext cx="1246439" cy="49769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35863" y="2553902"/>
            <a:ext cx="753575" cy="16653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284714" y="2720434"/>
            <a:ext cx="751149" cy="151501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902204" y="319464"/>
            <a:ext cx="47788" cy="49023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893174" y="1974677"/>
            <a:ext cx="1573011" cy="1146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466185" y="1035015"/>
            <a:ext cx="1210181" cy="95112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26639" y="807819"/>
            <a:ext cx="1032075" cy="60464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58714" y="807819"/>
            <a:ext cx="389678" cy="78294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58906" y="461869"/>
            <a:ext cx="999808" cy="34595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58714" y="807819"/>
            <a:ext cx="786463" cy="30525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760916" y="4585620"/>
            <a:ext cx="942535" cy="101137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03360" y="3939397"/>
            <a:ext cx="772590" cy="4921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39663" y="3988613"/>
            <a:ext cx="1463697" cy="82221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982422" y="3080527"/>
            <a:ext cx="1220938" cy="9080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89438" y="1974677"/>
            <a:ext cx="1103736" cy="57922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7182414" y="1801916"/>
            <a:ext cx="607024" cy="7519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7486541" y="1018759"/>
            <a:ext cx="302897" cy="153514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677933" y="430606"/>
            <a:ext cx="504481" cy="137131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77933" y="370283"/>
            <a:ext cx="1566092" cy="6032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26639" y="803042"/>
            <a:ext cx="1322155" cy="60942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6639" y="1412464"/>
            <a:ext cx="850237" cy="28567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6639" y="1412464"/>
            <a:ext cx="255783" cy="166806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9907" y="1412464"/>
            <a:ext cx="676732" cy="146067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26639" y="461869"/>
            <a:ext cx="32267" cy="95059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295229" y="1974677"/>
            <a:ext cx="597945" cy="95775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2975950" y="3939397"/>
            <a:ext cx="854036" cy="763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829986" y="4015783"/>
            <a:ext cx="1267639" cy="117668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829986" y="4015783"/>
            <a:ext cx="873465" cy="56983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3394424" y="2848103"/>
            <a:ext cx="435562" cy="116768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829986" y="3883968"/>
            <a:ext cx="671841" cy="13181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829986" y="2736196"/>
            <a:ext cx="953778" cy="127958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9321414" y="3929811"/>
            <a:ext cx="363418" cy="8638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84832" y="4793703"/>
            <a:ext cx="976966" cy="67811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975950" y="2848103"/>
            <a:ext cx="418474" cy="109129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844762" y="3325874"/>
            <a:ext cx="131188" cy="61352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4766339" y="5976211"/>
            <a:ext cx="1636696" cy="2548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7486541" y="1018759"/>
            <a:ext cx="1406633" cy="95591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097625" y="4554755"/>
            <a:ext cx="682437" cy="63771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097625" y="4235451"/>
            <a:ext cx="1187089" cy="95702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852949" y="2848103"/>
            <a:ext cx="1541475" cy="50520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852949" y="3325874"/>
            <a:ext cx="991813" cy="2743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262292" y="3353308"/>
            <a:ext cx="590657" cy="99664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237022" y="2493636"/>
            <a:ext cx="615927" cy="85967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52949" y="2382397"/>
            <a:ext cx="1222500" cy="97091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78002" y="4582624"/>
            <a:ext cx="261661" cy="22820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78002" y="4349957"/>
            <a:ext cx="784290" cy="23266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10020656" y="1951756"/>
            <a:ext cx="652902" cy="19992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069905" y="1801916"/>
            <a:ext cx="112509" cy="132674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9988410" y="5925205"/>
            <a:ext cx="252221" cy="55341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240631" y="5349030"/>
            <a:ext cx="726201" cy="11295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4501827" y="3883968"/>
            <a:ext cx="1278235" cy="67078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80062" y="4235451"/>
            <a:ext cx="504652" cy="31930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18754" y="4810832"/>
            <a:ext cx="20909" cy="45770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39663" y="4349957"/>
            <a:ext cx="522629" cy="46087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310899" y="4810832"/>
            <a:ext cx="428764" cy="118533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703451" y="4585620"/>
            <a:ext cx="62888" cy="139059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4501827" y="3883968"/>
            <a:ext cx="201624" cy="70165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703451" y="4235451"/>
            <a:ext cx="1581263" cy="35016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75080" y="3080527"/>
            <a:ext cx="707342" cy="8577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75080" y="2493636"/>
            <a:ext cx="961942" cy="67267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048794" y="803042"/>
            <a:ext cx="496383" cy="31003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18754" y="4349957"/>
            <a:ext cx="543538" cy="91858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310899" y="5268541"/>
            <a:ext cx="407855" cy="72763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576876" y="1590760"/>
            <a:ext cx="571516" cy="10738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758906" y="461869"/>
            <a:ext cx="817970" cy="123627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576876" y="1113075"/>
            <a:ext cx="968301" cy="58506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576876" y="1698142"/>
            <a:ext cx="1498573" cy="68425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4374028" y="5976211"/>
            <a:ext cx="392311" cy="8758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88410" y="5349030"/>
            <a:ext cx="978422" cy="57617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988410" y="5471813"/>
            <a:ext cx="673388" cy="4533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394424" y="2848103"/>
            <a:ext cx="1107403" cy="103586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394424" y="2736196"/>
            <a:ext cx="1389340" cy="11190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148392" y="1590760"/>
            <a:ext cx="927057" cy="79163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182414" y="1018759"/>
            <a:ext cx="304127" cy="78315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01827" y="2736196"/>
            <a:ext cx="281937" cy="114777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10966832" y="4735405"/>
            <a:ext cx="653047" cy="61362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0661798" y="5349030"/>
            <a:ext cx="305034" cy="12278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2844" y="461869"/>
            <a:ext cx="756062" cy="57550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3948070" y="1034523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35994" y="496768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533310" y="2507894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07105" y="3479994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7135" y="2973942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1656" y="622109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175608" y="5670551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509355" y="1530972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649474" y="6499387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035863" y="2720434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902204" y="319464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66185" y="1986140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758714" y="807819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760916" y="5596994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203360" y="3988613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789438" y="255390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677933" y="430606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26639" y="1412464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295229" y="2932428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829986" y="4015783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525085" y="2055802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84832" y="4793703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975950" y="3939397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403035" y="600169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93174" y="1974677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949992" y="809695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097625" y="5192472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852949" y="3353308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78002" y="4582624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321414" y="3929811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673558" y="2151680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476829" y="4076188"/>
            <a:ext cx="41148" cy="4114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069905" y="3128656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240631" y="6478622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780062" y="4554755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39663" y="481083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889597" y="6810651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020656" y="1951756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703451" y="4585620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75080" y="3166306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048794" y="803042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18754" y="5268541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576876" y="1698142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766339" y="5976211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82422" y="3080527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698603" y="6058246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88410" y="5925205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394424" y="2848103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374028" y="6063794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676366" y="1035015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148392" y="1590760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844762" y="3325874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182414" y="1801916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9907" y="287313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01827" y="3883968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619879" y="473540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284714" y="4235451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244025" y="370283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966832" y="5349030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661798" y="5471813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783764" y="2736196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262292" y="4349957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58906" y="461869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2545177" y="111307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145830" y="360563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844" y="1037374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237022" y="2493636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10899" y="5996171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486541" y="1018759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075449" y="2382397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C1FF"/>
                </a:solidFill>
                <a:latin typeface="Segoe UI"/>
              </a:rPr>
              <a:t>FOR RADIO ENGINEERS — HOW IT ACTUALLY WORKS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77240" y="17373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FFFFFF"/>
                </a:solidFill>
                <a:latin typeface="Segoe UI Light"/>
              </a:rPr>
              <a:t>PrimeNet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9B7C9"/>
                </a:solidFill>
                <a:latin typeface="Segoe UI Light"/>
              </a:rPr>
              <a:t>KPIs, detections, CM &amp; RET — the radio engineering inside the tool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22960" y="3657600"/>
            <a:ext cx="1563624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D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22960" y="3653028"/>
            <a:ext cx="1563624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DD6B0"/>
                </a:solidFill>
                <a:latin typeface="Segoe UI"/>
              </a:rPr>
              <a:t>Nokia + Huawei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587752" y="3657600"/>
            <a:ext cx="18516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587752" y="3653028"/>
            <a:ext cx="18516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08CFF"/>
                </a:solidFill>
                <a:latin typeface="Segoe UI"/>
              </a:rPr>
              <a:t>2G · 3G · 4G · 5G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640580" y="3657600"/>
            <a:ext cx="18516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C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640580" y="3653028"/>
            <a:ext cx="18516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BC1FF"/>
                </a:solidFill>
                <a:latin typeface="Segoe UI"/>
              </a:rPr>
              <a:t>Hourly &amp; daily PM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693408" y="3657600"/>
            <a:ext cx="2523744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693408" y="3653028"/>
            <a:ext cx="2523744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2B84B"/>
                </a:solidFill>
                <a:latin typeface="Segoe UI"/>
              </a:rPr>
              <a:t>CM read + governed write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22960" y="457200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22960" y="4572000"/>
            <a:ext cx="82296" cy="96012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51560" y="4709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2B84B"/>
                </a:solidFill>
                <a:latin typeface="Segoe UI"/>
              </a:rPr>
              <a:t>⟳  This is a companion deck.  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Amber bands mark </a:t>
            </a:r>
            <a:r>
              <a:rPr sz="1200" b="1" i="0">
                <a:solidFill>
                  <a:srgbClr val="E8EEF7"/>
                </a:solidFill>
                <a:latin typeface="Segoe UI"/>
              </a:rPr>
              <a:t>live-tool checkpoints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 — keep PrimeNet open in a second window and switch whenever you see one.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1">
                <a:solidFill>
                  <a:srgbClr val="74869C"/>
                </a:solidFill>
                <a:latin typeface="Segoe UI"/>
              </a:rPr>
              <a:t>Slides explain the logic behind each screen; the tool shows it running on your network.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4869C"/>
                </a:solidFill>
                <a:latin typeface="Segoe UI"/>
              </a:rPr>
              <a:t>Presenter: Malek Mohammad   ·   Audience: RF / RAN optimization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PRESENTER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How to run this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DD6B0"/>
                </a:solidFill>
                <a:latin typeface="Segoe UI"/>
              </a:rPr>
              <a:t>The two-window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58368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Deck = the logic.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Thresholds, formulas, and workflows the UI doesn't spell out — why a cell got flagged.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Tool = your network.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Every detection shown on a slide is then shown live, on real cells.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Layout: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deck on one half of the screen, PrimeNet on the other — or two monitors.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Cadence: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explain one detection → amber checkpoint → find a real example live → back to deck.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Login before starting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and keep a busy area in mind — live examples land better than slides.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4251960" cy="4160520"/>
          </a:xfrm>
          <a:prstGeom prst="roundRect">
            <a:avLst>
              <a:gd name="adj" fmla="val 4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41732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B7C9"/>
                </a:solidFill>
                <a:latin typeface="Segoe UI"/>
              </a:rPr>
              <a:t>SLIDE LEGEND</a:t>
            </a:r>
          </a:p>
        </p:txBody>
      </p:sp>
      <p:sp>
        <p:nvSpPr>
          <p:cNvPr id="10" name="Oval 9"/>
          <p:cNvSpPr/>
          <p:nvPr/>
        </p:nvSpPr>
        <p:spPr>
          <a:xfrm>
            <a:off x="7726680" y="1874519"/>
            <a:ext cx="146304" cy="146304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7830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SWITCH TO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66543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Stop talking, start clicking. Click-path is monospaced.</a:t>
            </a:r>
          </a:p>
        </p:txBody>
      </p:sp>
      <p:sp>
        <p:nvSpPr>
          <p:cNvPr id="13" name="Oval 12"/>
          <p:cNvSpPr/>
          <p:nvPr/>
        </p:nvSpPr>
        <p:spPr>
          <a:xfrm>
            <a:off x="7726680" y="2660903"/>
            <a:ext cx="146304" cy="146304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569464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6B0"/>
                </a:solidFill>
                <a:latin typeface="Segoe UI"/>
              </a:rPr>
              <a:t>Point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85292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What the audience must notice on the live screen.</a:t>
            </a:r>
          </a:p>
        </p:txBody>
      </p:sp>
      <p:sp>
        <p:nvSpPr>
          <p:cNvPr id="16" name="Oval 15"/>
          <p:cNvSpPr/>
          <p:nvPr/>
        </p:nvSpPr>
        <p:spPr>
          <a:xfrm>
            <a:off x="7726680" y="3447287"/>
            <a:ext cx="146304" cy="146304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355848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blue bullets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639311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The radio logic — thresholds, weights,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7726680" y="4233672"/>
            <a:ext cx="146304" cy="146304"/>
          </a:xfrm>
          <a:prstGeom prst="ellipse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14223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Segoe UI"/>
              </a:rPr>
              <a:t>formula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425696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The actual scoring math the tool runs, verbatim.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5020056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74869C"/>
                </a:solidFill>
                <a:latin typeface="Segoe UI"/>
              </a:rPr>
              <a:t>No live network? The deck stands alone — every checkpoint has enough context to narrate.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Presenter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What we'll 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1078992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35607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C1FF"/>
                </a:solidFill>
                <a:latin typeface="Segoe U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4996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Your day in PrimeNet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9280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The monitor → detect → diagnose → change → verify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64008" cy="1078992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35607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DD6B0"/>
                </a:solidFill>
                <a:latin typeface="Segoe U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49961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The data underneath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9280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PM cadence, sources, metadata — what "latest" means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64008" cy="1078992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62432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B08CFF"/>
                </a:solidFill>
                <a:latin typeface="Segoe UI Ligh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6883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KPIs across two vendors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081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Recipes &amp; aliases: one KPI name, per-vendor counters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51460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514600"/>
            <a:ext cx="64008" cy="1078992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62432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B84B"/>
                </a:solidFill>
                <a:latin typeface="Segoe UI Ligh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6883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How issues are scored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0815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Severity, evidence, and reading an issue 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0332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64008" cy="1078992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81304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5548A"/>
                </a:solidFill>
                <a:latin typeface="Segoe UI Ligh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8770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The detections, in 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2702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Sleeping cells · overshooting · neighbors · capacity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0332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703320"/>
            <a:ext cx="64008" cy="1078992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81304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8BC1FF"/>
                </a:solidFill>
                <a:latin typeface="Segoe UI Light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770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CM: reading the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702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MO trees, live vs plan config, parameter dictionary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9204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892040"/>
            <a:ext cx="64008" cy="1078992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00176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DD6B0"/>
                </a:solidFill>
                <a:latin typeface="Segoe UI Light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506577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Audits, changes &amp; RET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54589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Golden-parameter audit, change impact, safe tilt writes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892040"/>
            <a:ext cx="5394960" cy="1078992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892040"/>
            <a:ext cx="64008" cy="1078992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5001768"/>
            <a:ext cx="109728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B08CFF"/>
                </a:solidFill>
                <a:latin typeface="Segoe UI Light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06577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8EEF7"/>
                </a:solidFill>
                <a:latin typeface="Segoe UI"/>
              </a:rPr>
              <a:t>The daily loop &amp; trust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4589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Morning report, sector health, data freshness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Your day in PrimeNet: one optimization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84831" cy="169164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5875">
            <a:solidFill>
              <a:srgbClr val="8BC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084831" cy="38404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2"/>
                </a:solidFill>
                <a:latin typeface="Segoe UI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81051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Morning Report
Sector Health
Network Map /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01168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74869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371600"/>
            <a:ext cx="2084831" cy="169164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5875">
            <a:solidFill>
              <a:srgbClr val="E55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2344" y="1371600"/>
            <a:ext cx="2084831" cy="384048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3716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2"/>
                </a:solidFill>
                <a:latin typeface="Segoe UI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3" y="1847088"/>
            <a:ext cx="181051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Sleeping Cells
Overshooting
Capacity Hotspots
Neighbor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01168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74869C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1768" y="1371600"/>
            <a:ext cx="2084831" cy="169164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5875">
            <a:solidFill>
              <a:srgbClr val="3D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01768" y="1371600"/>
            <a:ext cx="2084831" cy="384048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13716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2"/>
                </a:solidFill>
                <a:latin typeface="Segoe UI"/>
              </a:rP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847088"/>
            <a:ext cx="181051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Performance Explorer
KPI trends &amp; evidence
Parameter Dictionary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01168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74869C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1192" y="1371600"/>
            <a:ext cx="2084831" cy="169164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1192" y="1371600"/>
            <a:ext cx="2084831" cy="38404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13716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2"/>
                </a:solidFill>
                <a:latin typeface="Segoe UI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1847088"/>
            <a:ext cx="181051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RET tilt / CM edits
Excel mass-modify
(plan first, then apply)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01168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74869C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0616" y="1371600"/>
            <a:ext cx="2084831" cy="1691640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5875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0616" y="1371600"/>
            <a:ext cx="2084831" cy="384048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13716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2"/>
                </a:solidFill>
                <a:latin typeface="Segoe U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47088"/>
            <a:ext cx="181051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Change Impact Tracker
Config History
next-day 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2004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74869C"/>
                </a:solidFill>
                <a:latin typeface="Segoe UI"/>
              </a:rPr>
              <a:t>↺  Verify feeds Monitor — every applied change shows up in tomorrow's morning report and impact tracker.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Everything is cell-level and evidence-backed.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Each detection carries the KPI values that triggered it — no black-box 'AI says so'.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Both vendors, one workflow.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Nokia and Huawei cells appear in the same lists with the same severities; you don't switch tools per vendor.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Reads are free, writes are staged.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All analytics are read-only; tilt/parameter changes go through an explicit plan → apply → history flow.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01 ·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230368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230368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53400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6327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Show the dashboard: the module deck maps 1:1 to this loop.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58795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Login → Dashboard  (hover the Radio Optimization section)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The data underneath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DD6B0"/>
                </a:solidFill>
                <a:latin typeface="Segoe UI"/>
              </a:rPr>
              <a:t>Where the numbers come from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577840" cy="658368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4008" cy="65836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Nokia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NetAct exports over SFTP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5506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BC1FF"/>
                </a:solidFill>
                <a:latin typeface="Segoe UI"/>
              </a:rPr>
              <a:t>hourly + daily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22576"/>
            <a:ext cx="5577840" cy="658368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64008" cy="658368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Huawei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U2020 exports over SFTP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5548A"/>
                </a:solidFill>
                <a:latin typeface="Segoe UI"/>
              </a:rPr>
              <a:t>hourly + 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72384"/>
            <a:ext cx="5577840" cy="658368"/>
          </a:xfrm>
          <a:prstGeom prst="roundRect">
            <a:avLst>
              <a:gd name="adj" fmla="val 6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546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1985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site/cell inventory, azimuths, coords, on-air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54679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snapshot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Hourly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drives near-real-time views (sector health, busy-hour checks).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Daily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drives baselines and detections — a stable day-level series per cell.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Metadata joins everything: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cell → site, area, vendor, technology, azimuth, on-air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207008"/>
            <a:ext cx="5303520" cy="365760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3716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B7C9"/>
                </a:solidFill>
                <a:latin typeface="Segoe UI"/>
              </a:rPr>
              <a:t>HOW PM IS ORGANIZED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75564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BC1FF"/>
                </a:solidFill>
                <a:latin typeface="Consolas"/>
              </a:rPr>
              <a:t>per vendor    nokia · huawei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07111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DD6B0"/>
                </a:solidFill>
                <a:latin typeface="Consolas"/>
              </a:rPr>
              <a:t>per RAT       2G · 3G · 4G · 5G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386583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74869C"/>
                </a:solidFill>
                <a:latin typeface="Consolas"/>
              </a:rPr>
              <a:t>              (4G FDD/TDD share the 4G table)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70205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08CFF"/>
                </a:solidFill>
                <a:latin typeface="Consolas"/>
              </a:rPr>
              <a:t>per cadence   hourly · 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017519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B84B"/>
                </a:solidFill>
                <a:latin typeface="Consolas"/>
              </a:rPr>
              <a:t>per scope     cells · groups (clusters/areas)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332987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64845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>KPI columns are detected automatically 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963923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>import — new counters in a vendor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27939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>appear as new KPIs, no mapping to maintain.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6B0"/>
                </a:solidFill>
                <a:latin typeface="Segoe UI"/>
              </a:rPr>
              <a:t>Why you should care:  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every detection later in this deck runs on the daily per-cell series; if a day's file is late, that day is simply absent — the tool never interpolates fake data.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02 ·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One KPI, two vendors: recipes &amp; aliases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7C9"/>
                </a:solidFill>
                <a:latin typeface="Segoe UI"/>
              </a:rPr>
              <a:t>You ask for a concept ("utilization"); PrimeNet resolves the right per-vendor counter column automatically: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384048"/>
          </a:xfrm>
          <a:prstGeom prst="roundRect">
            <a:avLst>
              <a:gd name="adj" fmla="val 3000"/>
            </a:avLst>
          </a:prstGeom>
          <a:solidFill>
            <a:srgbClr val="1B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55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5506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655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HUAWEI COUNTERS (examples)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655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NOKIA COUNTERS (examples)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54864" cy="530352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0312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Consolas"/>
              </a:rPr>
              <a:t>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03120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5548A"/>
                </a:solidFill>
                <a:latin typeface="Segoe UI"/>
              </a:rPr>
              <a:t>higher = worse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1031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DL/UL PRB Usage Rate(%)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E-UTRAN Avg PRB usage per TTI DL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42616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42616"/>
            <a:ext cx="54864" cy="530352"/>
          </a:xfrm>
          <a:prstGeom prst="rect">
            <a:avLst/>
          </a:prstGeom>
          <a:solidFill>
            <a:srgbClr val="E9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88336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Consolas"/>
              </a:rP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688336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9913A"/>
                </a:solidFill>
                <a:latin typeface="Segoe UI"/>
              </a:rPr>
              <a:t>higher = worse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88336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Average User Number · RRC Connected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688336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Active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27832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27832"/>
            <a:ext cx="54864" cy="530352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273552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Consolas"/>
              </a:rPr>
              <a:t>traffic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273552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2B84B"/>
                </a:solidFill>
                <a:latin typeface="Segoe UI"/>
              </a:rPr>
              <a:t>higher = worse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27355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Traffic Volume ·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273552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Data Volume · DL/UL Traffic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13048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813048"/>
            <a:ext cx="54864" cy="530352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58768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Consolas"/>
              </a:rPr>
              <a:t>throughput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58768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DD6B0"/>
                </a:solidFill>
                <a:latin typeface="Segoe UI"/>
              </a:rPr>
              <a:t>lower = worse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8587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User/Cell Throughput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858768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Average Throughput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98264"/>
            <a:ext cx="11155680" cy="530352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398264"/>
            <a:ext cx="54864" cy="530352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43983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Consolas"/>
              </a:rPr>
              <a:t>accessibility / retainability / mobility / interference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443983"/>
            <a:ext cx="1600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08CFF"/>
                </a:solidFill>
                <a:latin typeface="Segoe UI"/>
              </a:rPr>
              <a:t>category presets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443983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vendor formulas per 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4443983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vendor formulas per RAT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029199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Segoe UI"/>
              </a:rPr>
              <a:t>Matching is normalized (case/punctuation-insensitive) per vendor + RAT — so cross-vendor comparisons like "top PRB utilization cells network-wide" are one query, not two exports and a VLOOKUP.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03 · KPIs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321808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321808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543153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572414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Query the same KPI across Nokia and Huawei cells in one screen.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59710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Dashboard → Performance Explorer → vendor: All → pick a KPI → Top-N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How issues are scored (read this once, use it everywhere)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62356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Additive, capped signals.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Each detection sums a few capped penalty terms; the total is clipped to 0–100.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Severity is just a banding of the score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— same thresholds in every module (right).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Evidence rides along.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Every issue carries the raw KPI values (pre / post / delta, dates, distances) that produced its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FFFFFF"/>
                </a:solidFill>
                <a:latin typeface="Segoe UI"/>
              </a:rPr>
              <a:t>Stable identity. </a:t>
            </a:r>
            <a:r>
              <a:rPr sz="1250" b="0" i="0">
                <a:solidFill>
                  <a:srgbClr val="E8EEF7"/>
                </a:solidFill>
                <a:latin typeface="Segoe UI"/>
              </a:rPr>
              <a:t>The same cell + problem keeps the same issue ID across days — you can track it until it's fixed.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5623560" cy="137160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913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B7C9"/>
                </a:solidFill>
                <a:latin typeface="Segoe UI"/>
              </a:rPr>
              <a:t>SEVERITY BANDS (ALL MODULES)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79392"/>
            <a:ext cx="969264" cy="566928"/>
          </a:xfrm>
          <a:prstGeom prst="roundRect">
            <a:avLst>
              <a:gd name="adj" fmla="val 10000"/>
            </a:avLst>
          </a:prstGeom>
          <a:solidFill>
            <a:srgbClr val="182230"/>
          </a:solidFill>
          <a:ln w="15875">
            <a:solidFill>
              <a:srgbClr val="E55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3425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5548A"/>
                </a:solidFill>
                <a:latin typeface="Segoe U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≥ 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9655" y="4279392"/>
            <a:ext cx="969264" cy="566928"/>
          </a:xfrm>
          <a:prstGeom prst="roundRect">
            <a:avLst>
              <a:gd name="adj" fmla="val 10000"/>
            </a:avLst>
          </a:prstGeom>
          <a:solidFill>
            <a:srgbClr val="182230"/>
          </a:solidFill>
          <a:ln w="15875">
            <a:solidFill>
              <a:srgbClr val="E9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5" y="433425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9913A"/>
                </a:solidFill>
                <a:latin typeface="Segoe U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5" y="45720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≥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2072" y="4279392"/>
            <a:ext cx="969264" cy="566928"/>
          </a:xfrm>
          <a:prstGeom prst="roundRect">
            <a:avLst>
              <a:gd name="adj" fmla="val 10000"/>
            </a:avLst>
          </a:prstGeom>
          <a:solidFill>
            <a:srgbClr val="182230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433425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45720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≥ 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4487" y="4279392"/>
            <a:ext cx="969264" cy="566928"/>
          </a:xfrm>
          <a:prstGeom prst="roundRect">
            <a:avLst>
              <a:gd name="adj" fmla="val 10000"/>
            </a:avLst>
          </a:prstGeom>
          <a:solidFill>
            <a:srgbClr val="182230"/>
          </a:solidFill>
          <a:ln w="15875">
            <a:solidFill>
              <a:srgbClr val="3D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7" y="433425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45720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&gt;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6903" y="4279392"/>
            <a:ext cx="969264" cy="566928"/>
          </a:xfrm>
          <a:prstGeom prst="roundRect">
            <a:avLst>
              <a:gd name="adj" fmla="val 10000"/>
            </a:avLst>
          </a:prstGeom>
          <a:solidFill>
            <a:srgbClr val="182230"/>
          </a:solidFill>
          <a:ln w="15875">
            <a:solidFill>
              <a:srgbClr val="748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3" y="4334256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4869C"/>
                </a:solidFill>
                <a:latin typeface="Segoe UI"/>
              </a:rPr>
              <a:t>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3" y="4572000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261872"/>
            <a:ext cx="5257800" cy="3904487"/>
          </a:xfrm>
          <a:prstGeom prst="roundRect">
            <a:avLst>
              <a:gd name="adj" fmla="val 4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138988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B7C9"/>
                </a:solidFill>
                <a:latin typeface="Segoe UI"/>
              </a:rPr>
              <a:t>ANATOMY OF AN ISSUE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75564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5548A"/>
                </a:solidFill>
                <a:latin typeface="Segoe UI"/>
              </a:rPr>
              <a:t>Sleeping cell AMM0416_L18_1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03911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Critical · score 92 · Availability · Huawei · 4G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32257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A9B7C9"/>
                </a:solidFill>
                <a:latin typeface="Segoe U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43230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"CM state Active but 'Traffic Volume' flatlined for 3 day(s):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71576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E8EEF7"/>
                </a:solidFill>
                <a:latin typeface="Consolas"/>
              </a:rPr>
              <a:t>  latest=0.01 vs baseline avg 412.6 over previous 7 day(s)"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99923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A9B7C9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0896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B84B"/>
                </a:solidFill>
                <a:latin typeface="Consolas"/>
              </a:rPr>
              <a:t>evidence: { kpi, days_asleep, baseline_avg,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9242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B84B"/>
                </a:solidFill>
                <a:latin typeface="Consolas"/>
              </a:rPr>
              <a:t>            quiet_cutoff, recent[], baseline[]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67588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A9B7C9"/>
                </a:solidFill>
                <a:latin typeface="Segoe U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78561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DD6B0"/>
                </a:solidFill>
                <a:latin typeface="Consolas"/>
              </a:rPr>
              <a:t>recommendation: check alarms, TX path, RET/RRU,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06908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DD6B0"/>
                </a:solidFill>
                <a:latin typeface="Consolas"/>
              </a:rPr>
              <a:t>  transmission — likely silent outage or barred 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446227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74869C"/>
                </a:solidFill>
                <a:latin typeface="Segoe UI"/>
              </a:rPr>
              <a:t>Title → what · Summary → why · Evidence → proof · Recommendation → next action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04 ·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5548A"/>
                </a:solidFill>
                <a:latin typeface="Segoe U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Detection 1 — Sleeping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Segoe UI"/>
              </a:rPr>
              <a:t>Definition:  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a cell that is on-air per CM (activity = Active) but whose daily traffic collapsed to ~zero against its own baseline — a silent outage no alarm caught.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62356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Baseline = the cell's own history.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7 previous days of daily traffic (or users, if no traffic KPI exists for that table).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Recent window = last 2 days.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The cell is a candidate only if its best recent day is still below the quiet cutoff.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Quiet cutoff is relative: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2% of the baseline average, floored at 0.05 — a small cell isn't flagged for being small.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Low-traffic cells excluded: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baseline average &lt; 1.0 (KPI units) is ignored — nothing meaningful to lose.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Days-asleep counts back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consecutive quiet days from the newest sample — it can exceed the 2-day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57800" cy="214884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SCORE (0–100)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208483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DD6B0"/>
                </a:solidFill>
                <a:latin typeface="Consolas"/>
              </a:rPr>
              <a:t>score = 45                    # base: it IS asleep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5915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      + min(25, √baseline_avg)  # bigger cell,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63347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4869C"/>
                </a:solidFill>
                <a:latin typeface="Consolas"/>
              </a:rPr>
              <a:t>                                # bigger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90779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      + min(30, days_asleep×10) # longer = worse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18211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45643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2B84B"/>
                </a:solidFill>
                <a:latin typeface="Consolas"/>
              </a:rPr>
              <a:t>quiet_cutoff = max(0.05, 0.02 × baseline_avg)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Reading it:  </a:t>
            </a:r>
            <a:r>
              <a:rPr sz="1100" b="0" i="0">
                <a:solidFill>
                  <a:srgbClr val="A9B7C9"/>
                </a:solidFill>
                <a:latin typeface="Segoe UI"/>
              </a:rPr>
              <a:t>a busy cell (baseline 400+) asleep 3 days lands ≈ 45+20+30 = 95 → Critical. A quiet rural cell asleep 1 day ≈ 45+3+10 = 58 → Medium.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05 · 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11185855" cy="1188720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074920"/>
            <a:ext cx="82296" cy="118872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1846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47725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Open Sleeping Cells; expand one issue and show recent[] vs baseline[] in the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72414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Dashboard → Radio Optimization → Sleeping Cell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971031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Point out: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CM says Active, PM says dead — that gap is the whole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E9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9913A"/>
                </a:solidFill>
                <a:latin typeface="Segoe U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Detection 2 — Overshooting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9913A"/>
                </a:solidFill>
                <a:latin typeface="Segoe UI"/>
              </a:rPr>
              <a:t>Definition:  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a cell handing over to neighbors far beyond its intended footprint — serving where it shouldn't, degrading HO performance and polluting the far cell's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62356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Source: the HO relation matrix.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Per source→target neighbor line: attempts, failures, success rate, inter-site distance (min 5 attempts to count).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Distance gate: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relations under 8 km are ignored — normal grid geometry, not overshooting.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Three penalty terms: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distance beyond 8 km, HO failure ratio, and HO success rate below 95%.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Keep threshold: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score &lt; 30 is dropped — only actionable candidates surface.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First-pass heuristic by design: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needs no TA/MR/RSRP data; confirm with TA or drive-test evidence before tilting.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57800" cy="210312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SCORE (0–100)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208483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4869C"/>
                </a:solidFill>
                <a:latin typeface="Consolas"/>
              </a:rPr>
              <a:t>if distance &lt; 8 km: skip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235915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score = min(45, (distance − 8) ×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63347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      + min(25, failures/attempts × 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90779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      + max(0, 95 − HO_success_rate)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318211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2B84B"/>
                </a:solidFill>
                <a:latin typeface="Consolas"/>
              </a:rPr>
              <a:t>keep if score ≥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Action path:  </a:t>
            </a:r>
            <a:r>
              <a:rPr sz="1100" b="0" i="0">
                <a:solidFill>
                  <a:srgbClr val="A9B7C9"/>
                </a:solidFill>
                <a:latin typeface="Segoe UI"/>
              </a:rPr>
              <a:t>evidence includes source azimuth → check the bearing, then downtilt (RET module), power, or clean the neighbor plan. 15 km + failing HOs ≈ 28+x → strong candidate.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05 · Detections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74920"/>
            <a:ext cx="11185855" cy="1188720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74920"/>
            <a:ext cx="82296" cy="118872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1846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47725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Sort by score; pick a candidate and cross-check its azimuth &amp; distance on the 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2414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Radio Optimization → Overshooting Detector  →  Network Map (same cell)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971031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Point out: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Far-target distance + failure ratio in the evidence block — then the geometry on the 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Detection 3 — Neighbor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9B7C9"/>
                </a:solidFill>
                <a:latin typeface="Segoe UI"/>
              </a:rPr>
              <a:t>Every defined neighbor relation is scored by summing independent penalties — one bad relation can fail for several reasons at once: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11155680" cy="365760"/>
          </a:xfrm>
          <a:prstGeom prst="roundRect">
            <a:avLst>
              <a:gd name="adj" fmla="val 3000"/>
            </a:avLst>
          </a:prstGeom>
          <a:solidFill>
            <a:srgbClr val="1B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733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733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B7C9"/>
                </a:solidFill>
                <a:latin typeface="Segoe UI"/>
              </a:rPr>
              <a:t>READING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66543"/>
            <a:ext cx="11155680" cy="512064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66543"/>
            <a:ext cx="54864" cy="512064"/>
          </a:xfrm>
          <a:prstGeom prst="rect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Segoe UI"/>
              </a:rPr>
              <a:t>Poor HO 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103120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5548A"/>
                </a:solidFill>
                <a:latin typeface="Consolas"/>
              </a:rPr>
              <a:t>(95 − SR) × 1.4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0312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SR 88% → 9.8 pts; missing SR data → flat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33472"/>
            <a:ext cx="11155680" cy="512064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33472"/>
            <a:ext cx="54864" cy="512064"/>
          </a:xfrm>
          <a:prstGeom prst="rect">
            <a:avLst/>
          </a:prstGeom>
          <a:solidFill>
            <a:srgbClr val="E9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Segoe UI"/>
              </a:rPr>
              <a:t>HO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670048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9913A"/>
                </a:solidFill>
                <a:latin typeface="Consolas"/>
              </a:rPr>
              <a:t>min(35, fail/attempts × 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70048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failure ratio capped at 35 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00400"/>
            <a:ext cx="11155680" cy="512064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00400"/>
            <a:ext cx="54864" cy="5120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36976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Segoe UI"/>
              </a:rPr>
              <a:t>Excessive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236976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Consolas"/>
              </a:rPr>
              <a:t>+20 if ≥ 12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36976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geometry sanity check on the relation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67328"/>
            <a:ext cx="11155680" cy="512064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67328"/>
            <a:ext cx="54864" cy="512064"/>
          </a:xfrm>
          <a:prstGeom prst="rect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03904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Segoe UI"/>
              </a:rPr>
              <a:t>Missing reciprocal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803904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8CFF"/>
                </a:solidFill>
                <a:latin typeface="Consolas"/>
              </a:rPr>
              <a:t>+15 if B→A not defined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803904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one-way neighbors break return mobility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334256"/>
            <a:ext cx="11155680" cy="512064"/>
          </a:xfrm>
          <a:prstGeom prst="roundRect">
            <a:avLst>
              <a:gd name="adj" fmla="val 3000"/>
            </a:avLst>
          </a:prstGeom>
          <a:solidFill>
            <a:srgbClr val="182230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334256"/>
            <a:ext cx="54864" cy="512064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70832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8EEF7"/>
                </a:solidFill>
                <a:latin typeface="Segoe UI"/>
              </a:rPr>
              <a:t>Cross-vendor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370832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BC1FF"/>
                </a:solidFill>
                <a:latin typeface="Consolas"/>
              </a:rPr>
              <a:t>+8 if vendors differ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370832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9B7C9"/>
                </a:solidFill>
                <a:latin typeface="Segoe UI"/>
              </a:rPr>
              <a:t>Nokia↔Huawei borders need extra 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28616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Relations need ≥10 HO attempts to be judged; total score &lt; 25 is discarded. Summary strings are engineer-readable: </a:t>
            </a:r>
            <a:r>
              <a:rPr sz="1100" b="0" i="0">
                <a:solidFill>
                  <a:srgbClr val="3DD6B0"/>
                </a:solidFill>
                <a:latin typeface="Consolas"/>
              </a:rPr>
              <a:t>"HO SR 88.2%, 214 failed HOs, missing reciprocal, 14.1 km"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05 · Detections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09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349240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349240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545896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57515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Filter to one area; show a relation failing on multiple penalties at once.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99846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Radio Optimization → Neighbor Quality Analyzer → area filter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B84B"/>
                </a:solidFill>
                <a:latin typeface="Segoe U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Detections 4 &amp; 5 — Capacity hotspots · Layer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32120" cy="3749039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B84B"/>
                </a:solidFill>
                <a:latin typeface="Segoe UI"/>
              </a:rPr>
              <a:t>CAPACITY HOTSPOTS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3736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Finds cells whose PRB utilization is both rising and already high — growth pressure, not a one-day spike.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5029200" cy="155448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496312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816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delta = |latest − baseline| 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0906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score = min(45, delta ×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33649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      + max(0, latest − 70) × 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63931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2B84B"/>
                </a:solidFill>
                <a:latin typeface="Consolas"/>
              </a:rPr>
              <a:t>keep if score ≥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41648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The 70% knee: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below ~70% PRB, users rarely feel it; each point above 70 adds 1.2 pts. Recommendation: busy-hour PRB/users review → carrier add or sector split.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28016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B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17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08CFF"/>
                </a:solidFill>
                <a:latin typeface="Segoe UI"/>
              </a:rPr>
              <a:t>LAYER COVERAGE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7373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Inventory-based (no PM needed): per sector, which technology layers exist vs which the grid design expects.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2377440"/>
            <a:ext cx="4983480" cy="155448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4963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Segoe U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5" y="281635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+35 if LTE missing entirely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5" y="309067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+20 if 3G 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5" y="3364991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8EEF7"/>
                </a:solidFill>
                <a:latin typeface="Consolas"/>
              </a:rPr>
              <a:t>+min(35, missing_layers × 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5" y="3639311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4869C"/>
                </a:solidFill>
                <a:latin typeface="Consolas"/>
              </a:rPr>
              <a:t>  (per absent LTE band, e.g. L18/L21)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041648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Use it for: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finding sectors where a band was never integrated, decommissioned by mistake, or metadata is stale — validate design before chasing 'coverage complaints'.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05 · Detections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0368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230368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3400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6327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Show a hotspot cell's utilization trend, then a sector with a missing band.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8795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Capacity Hotspots → evidence  ·  then  Layer Coverage Gaps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CM: reading the live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57784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Live config on demand.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PrimeNet reads current parameter values straight from the OSS — NetAct for Nokia, U2020 for Huawei — not from a stale weekly export.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The MO tree is your address system.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Nokia: PLMN → RNC/BSC → WBTS/WCEL (3G), MRBTS → LNCEL (4G). Every cell/parameter has one distinguished name (DN).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Live vs plan.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Reads target the actual network; writes go to a plan configuration first — nothing edits live directly.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Huawei side speaks MML.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The same UI drives LST/MOD commands under the hood; responses are parsed into the same tables.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Parameter Dictionary: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~19,000 Huawei parameter reference pages searchable offline — meaning, range, impact, before you touch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61872"/>
            <a:ext cx="5349240" cy="320040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38988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9B7C9"/>
                </a:solidFill>
                <a:latin typeface="Segoe UI"/>
              </a:rPr>
              <a:t>ONE CELL, TWO VENDORS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DD6B0"/>
                </a:solidFill>
                <a:latin typeface="Consolas"/>
              </a:rPr>
              <a:t>Nokia (3G cell):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2996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8EEF7"/>
                </a:solidFill>
                <a:latin typeface="Consolas"/>
              </a:rPr>
              <a:t>  PLMN-PLMN/RNC-521/WBTS-176/WCEL-1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0428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74869C"/>
                </a:solidFill>
                <a:latin typeface="Consolas"/>
              </a:rPr>
              <a:t>  class NOKRNC:WCEL — read via CM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7860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5292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5548A"/>
                </a:solidFill>
                <a:latin typeface="Consolas"/>
              </a:rPr>
              <a:t>Huawei (4G cell):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2724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8EEF7"/>
                </a:solidFill>
                <a:latin typeface="Consolas"/>
              </a:rPr>
              <a:t>  LST CELL: LOCALCELLID=1;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0156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8EEF7"/>
                </a:solidFill>
                <a:latin typeface="Consolas"/>
              </a:rPr>
              <a:t>  MOD CELLALGOSWITCH: … 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7588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74869C"/>
                </a:solidFill>
                <a:latin typeface="Consolas"/>
              </a:rPr>
              <a:t>  MML over U2020 — parsed to same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5020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7C9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24527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B84B"/>
                </a:solidFill>
                <a:latin typeface="Consolas"/>
              </a:rPr>
              <a:t>→ same grid in the UI, vendor hidden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720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74869C"/>
                </a:solidFill>
                <a:latin typeface="Segoe UI"/>
              </a:rPr>
              <a:t>Exports land as Excel — the same file format the mass-modify flow re-imports.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06 ·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38928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38928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24865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54126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Extract one site's cells; open the Excel; look up one parameter in the dictionary.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78815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Configuration → Configuration Data Extractor → site scope → Extract  ·  Parameter Dictionary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CM Parameter Audit &amp; Change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32120" cy="379476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8BC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C1FF"/>
                </a:solidFill>
                <a:latin typeface="Segoe UI"/>
              </a:rPr>
              <a:t>GOLDEN-PARAMETER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37360"/>
            <a:ext cx="5074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You define the golden config as rules; the tool scans the latest CM snapshot and flags every violation.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7744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D6B0"/>
                </a:solidFill>
                <a:latin typeface="Consolas"/>
              </a:rPr>
              <a:t>equals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3429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value must match expected (e.g. qRxLevMin = -128)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53512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99232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B84B"/>
                </a:solidFill>
                <a:latin typeface="Consolas"/>
              </a:rPr>
              <a:t>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99232"/>
            <a:ext cx="3429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numeric bounds (e.g. 0 ≤ tilt offset ≤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529584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0C131D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75303"/>
            <a:ext cx="13716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08CFF"/>
                </a:solidFill>
                <a:latin typeface="Consolas"/>
              </a:rPr>
              <a:t>not_empty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75303"/>
            <a:ext cx="3429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9B7C9"/>
                </a:solidFill>
                <a:latin typeface="Segoe UI"/>
              </a:rPr>
              <a:t>parameter must be set at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23944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A9B7C9"/>
                </a:solidFill>
                <a:latin typeface="Segoe UI"/>
              </a:rPr>
              <a:t>Rules carry vendor / RAT / MO-class scope and their own severity (Critical→90 … Low→30). Findings export to Excel for the change 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80160"/>
            <a:ext cx="5486400" cy="379476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E554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417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548A"/>
                </a:solidFill>
                <a:latin typeface="Segoe UI"/>
              </a:rPr>
              <a:t>CHANGE IMPACT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737360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Answers the morning-after question: did yesterday's parameter changes hurt anything?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377440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Consolas"/>
              </a:rPr>
              <a:t>1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Diff CM snapshots → list of parameter changes per cell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03580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Consolas"/>
              </a:rPr>
              <a:t>2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Pull the degraded-cells list from daily PM (accessibility, retainability…)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94176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Consolas"/>
              </a:rPr>
              <a:t>3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Correlate: change + degradation on the same cell → score 65; change alone → 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52544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5548A"/>
                </a:solidFill>
                <a:latin typeface="Consolas"/>
              </a:rPr>
              <a:t>4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Summary names both: "pci changed 101→237. PM degradation also seen in Retainability (−4.2%)"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07 · Audit &amp;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0368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230368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3400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6327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Run the audit on one vendor/RAT; then show a correlated change in Change Impact.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8795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Configuration → CM Parameter Audit → Scan  ·  Radio Optimization → Change Impact Tracker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B84B"/>
                </a:solidFill>
                <a:latin typeface="Segoe U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RET: reading &amp; changing tilts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53212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Read tilts across both vendors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in one grid — current electrical tilt per antenna/RET unit, joined to cell &amp; site metadata.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Writes are explicit, never bulk-blind.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You stage the target tilt per RET unit; the tool generates the vendor command (Huawei RET MOD / Nokia CM write).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Value handling is vendor-aware.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Tilt units, offsets, and command formatting differ per vendor — the tool normalizes so you type degrees, not vendor syntax.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Every applied change is recorded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in Config History: what, when, who, old → new — your rollback reference.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Segoe UI"/>
              </a:rPr>
              <a:t>Close the loop with Change Impact: </a:t>
            </a:r>
            <a:r>
              <a:rPr sz="1200" b="0" i="0">
                <a:solidFill>
                  <a:srgbClr val="E8EEF7"/>
                </a:solidFill>
                <a:latin typeface="Segoe UI"/>
              </a:rPr>
              <a:t>tomorrow, the tilt change shows up correlated with its KPI effect.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49240" cy="3246120"/>
          </a:xfrm>
          <a:prstGeom prst="roundRect">
            <a:avLst>
              <a:gd name="adj" fmla="val 4000"/>
            </a:avLst>
          </a:prstGeom>
          <a:solidFill>
            <a:srgbClr val="0C131D"/>
          </a:solidFill>
          <a:ln w="12700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1732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B84B"/>
                </a:solidFill>
                <a:latin typeface="Segoe UI"/>
              </a:rPr>
              <a:t>TILT CHANGE — TYPICAL FLOW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1828800"/>
            <a:ext cx="146304" cy="146304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1  Detect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overshooting candidate at 14 km, azimuth 120°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56832" y="2011680"/>
            <a:ext cx="0" cy="201168"/>
          </a:xfrm>
          <a:prstGeom prst="bentConnector3">
            <a:avLst/>
          </a:prstGeom>
          <a:ln w="12700">
            <a:solidFill>
              <a:srgbClr val="304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583680" y="2258568"/>
            <a:ext cx="146304" cy="146304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212848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2  Confirm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map geometry + HO evidence + (TA if available)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56832" y="2441448"/>
            <a:ext cx="0" cy="201167"/>
          </a:xfrm>
          <a:prstGeom prst="bentConnector3">
            <a:avLst/>
          </a:prstGeom>
          <a:ln w="12700">
            <a:solidFill>
              <a:srgbClr val="304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583680" y="2688335"/>
            <a:ext cx="146304" cy="146304"/>
          </a:xfrm>
          <a:prstGeom prst="ellipse">
            <a:avLst/>
          </a:prstGeom>
          <a:solidFill>
            <a:srgbClr val="B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642615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3  Read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current tilt: 2° electrical on that RET 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56832" y="2871215"/>
            <a:ext cx="0" cy="201168"/>
          </a:xfrm>
          <a:prstGeom prst="bentConnector3">
            <a:avLst/>
          </a:prstGeom>
          <a:ln w="12700">
            <a:solidFill>
              <a:srgbClr val="304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583680" y="3118103"/>
            <a:ext cx="146304" cy="146304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072383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4  Stage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target 4° — review generated command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56832" y="3300983"/>
            <a:ext cx="0" cy="201168"/>
          </a:xfrm>
          <a:prstGeom prst="bentConnector3">
            <a:avLst/>
          </a:prstGeom>
          <a:ln w="12700">
            <a:solidFill>
              <a:srgbClr val="304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83680" y="3547871"/>
            <a:ext cx="146304" cy="146304"/>
          </a:xfrm>
          <a:prstGeom prst="ellipse">
            <a:avLst/>
          </a:prstGeom>
          <a:solidFill>
            <a:srgbClr val="E9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502151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5  Apply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execute; result logged to Config History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56832" y="3730751"/>
            <a:ext cx="0" cy="201168"/>
          </a:xfrm>
          <a:prstGeom prst="bentConnector3">
            <a:avLst/>
          </a:prstGeom>
          <a:ln w="12700">
            <a:solidFill>
              <a:srgbClr val="304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583680" y="3977639"/>
            <a:ext cx="146304" cy="146304"/>
          </a:xfrm>
          <a:prstGeom prst="ellipse">
            <a:avLst/>
          </a:prstGeom>
          <a:solidFill>
            <a:srgbClr val="E55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19"/>
            <a:ext cx="4526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8EEF7"/>
                </a:solidFill>
                <a:latin typeface="Segoe UI"/>
              </a:rPr>
              <a:t>6  Verify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   next-day Change Impact + neighbor HO 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07 · 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38928"/>
            <a:ext cx="11185855" cy="1188720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138928"/>
            <a:ext cx="82296" cy="118872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24865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54126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Read tilts for one site; stage (but don't apply) a change and show the generated command.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78815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Configuration → RET Management → site 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603504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D6B0"/>
                </a:solidFill>
                <a:latin typeface="Segoe UI"/>
              </a:rPr>
              <a:t>Point out:  </a:t>
            </a:r>
            <a:r>
              <a:rPr sz="1050" b="0" i="0">
                <a:solidFill>
                  <a:srgbClr val="A9B7C9"/>
                </a:solidFill>
                <a:latin typeface="Segoe UI"/>
              </a:rPr>
              <a:t>The vendor command preview — degrees in, vendor syntax 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F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BC1FF"/>
                </a:solidFill>
                <a:latin typeface="Segoe U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The daily loop: morning report &amp; sector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32120" cy="278892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E9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913A"/>
                </a:solidFill>
                <a:latin typeface="Segoe UI"/>
              </a:rPr>
              <a:t>RADIO MORNING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One overnight roll-up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of every detection: sleeping cells, hotspots, neighbor issues, audit failures.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Ranked by severity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so the first 15 minutes of the day are triage, not hunting.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Each line links back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to its source module with evidence intact.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486400" cy="278892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 w="15875">
            <a:solidFill>
              <a:srgbClr val="3D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17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DD6B0"/>
                </a:solidFill>
                <a:latin typeface="Segoe UI"/>
              </a:rPr>
              <a:t>SECTOR HEALTH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78308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DD6B0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Per-sector KPI composite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across accessibility, retainability, mobility, interference.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DD6B0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All-cells variant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covers the whole network, with site names derived from cell names.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DD6B0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Your drill-down surface </a:t>
            </a:r>
            <a:r>
              <a:rPr sz="1150" b="0" i="0">
                <a:solidFill>
                  <a:srgbClr val="E8EEF7"/>
                </a:solidFill>
                <a:latin typeface="Segoe UI"/>
              </a:rPr>
              <a:t>when a report line needs context: is it one cell or the whole sector?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2452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DD6B0"/>
                </a:solidFill>
                <a:latin typeface="Segoe UI"/>
              </a:rPr>
              <a:t>Trusting the numbers:  </a:t>
            </a:r>
            <a:r>
              <a:rPr sz="1200" b="0" i="0">
                <a:solidFill>
                  <a:srgbClr val="A9B7C9"/>
                </a:solidFill>
                <a:latin typeface="Segoe UI"/>
              </a:rPr>
              <a:t>data freshness is visible (per-vendor last-loaded day), missing days are shown as missing, and no KPI is ever interpolated. If the report looks quiet, check freshness before celebrating.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382512"/>
            <a:ext cx="11185855" cy="0"/>
          </a:xfrm>
          <a:prstGeom prst="bentConnector3">
            <a:avLst/>
          </a:prstGeom>
          <a:ln w="9525">
            <a:solidFill>
              <a:srgbClr val="223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28232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BC1FF"/>
                </a:solidFill>
                <a:latin typeface="Segoe UI"/>
              </a:rPr>
              <a:t>PrimeNet</a:t>
            </a:r>
            <a:r>
              <a:rPr sz="900" b="0" i="0">
                <a:solidFill>
                  <a:srgbClr val="74869C"/>
                </a:solidFill>
                <a:latin typeface="Segoe UI"/>
              </a:rPr>
              <a:t>  ·  RAN Engineering Deep-Dive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9847" y="642823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4869C"/>
                </a:solidFill>
                <a:latin typeface="Segoe UI"/>
              </a:rPr>
              <a:t>08 · Daily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428232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B7C9"/>
                </a:solidFill>
                <a:latin typeface="Segoe UI"/>
              </a:rPr>
              <a:t>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11185855" cy="969264"/>
          </a:xfrm>
          <a:prstGeom prst="roundRect">
            <a:avLst>
              <a:gd name="adj" fmla="val 5000"/>
            </a:avLst>
          </a:prstGeom>
          <a:solidFill>
            <a:srgbClr val="221C0E"/>
          </a:solidFill>
          <a:ln w="1587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74920"/>
            <a:ext cx="82296" cy="96926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1846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B84B"/>
                </a:solidFill>
                <a:latin typeface="Segoe UI"/>
              </a:rPr>
              <a:t>⟳  SWITCH TO TOOL</a:t>
            </a:r>
            <a:r>
              <a:rPr sz="1050" b="0" i="1">
                <a:solidFill>
                  <a:srgbClr val="C9B082"/>
                </a:solidFill>
                <a:latin typeface="Segoe UI"/>
              </a:rPr>
              <a:t>   — live demo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47725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EEF7"/>
                </a:solidFill>
                <a:latin typeface="Segoe UI"/>
              </a:rPr>
              <a:t>Open the morning report; follow one Critical line to its module and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72414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B84B"/>
                </a:solidFill>
                <a:latin typeface="Segoe UI"/>
              </a:rPr>
              <a:t>Click path:  </a:t>
            </a:r>
            <a:r>
              <a:rPr sz="1050" b="0" i="0">
                <a:solidFill>
                  <a:srgbClr val="A9B7C9"/>
                </a:solidFill>
                <a:latin typeface="Consolas"/>
              </a:rPr>
              <a:t>Radio Optimization → Radio Morning Report → click a finding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628591" y="449396"/>
            <a:ext cx="162732" cy="58353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628591" y="439127"/>
            <a:ext cx="557053" cy="1026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28591" y="449396"/>
            <a:ext cx="1074048" cy="99849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7492193" y="308200"/>
            <a:ext cx="136398" cy="14119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0540" y="5490482"/>
            <a:ext cx="918645" cy="25288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657690" y="1488096"/>
            <a:ext cx="1504275" cy="11894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61965" y="435212"/>
            <a:ext cx="312149" cy="117182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1029777" y="3225067"/>
            <a:ext cx="1108821" cy="67787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97883" y="3266830"/>
            <a:ext cx="831894" cy="63610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138710" y="3266830"/>
            <a:ext cx="59173" cy="66645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23019" y="5953054"/>
            <a:ext cx="617008" cy="24796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78465" y="5083505"/>
            <a:ext cx="744554" cy="111751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83962" y="439127"/>
            <a:ext cx="1682" cy="67941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244112" y="3933284"/>
            <a:ext cx="894598" cy="12047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474114" y="212678"/>
            <a:ext cx="198849" cy="22253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52244" y="3242113"/>
            <a:ext cx="477533" cy="66082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314518" y="6026898"/>
            <a:ext cx="449164" cy="34381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15273" y="5492632"/>
            <a:ext cx="605411" cy="92362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640509" y="303055"/>
            <a:ext cx="74365" cy="3652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39904" y="1447895"/>
            <a:ext cx="1062735" cy="61654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9904" y="2064437"/>
            <a:ext cx="1119103" cy="20524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440974" y="6615452"/>
            <a:ext cx="51656" cy="18075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411006" y="6788089"/>
            <a:ext cx="29968" cy="811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492193" y="308200"/>
            <a:ext cx="691769" cy="81033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83962" y="1118537"/>
            <a:ext cx="575045" cy="115114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411006" y="6615452"/>
            <a:ext cx="81624" cy="17263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138710" y="3902939"/>
            <a:ext cx="891067" cy="3034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901192" y="3732324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10380" y="4141683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28591" y="449396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0540" y="5743362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61965" y="1607041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138598" y="3225067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7883" y="3266830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91323" y="1032927"/>
            <a:ext cx="41148" cy="4114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40027" y="5953054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78465" y="508350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85644" y="439127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44112" y="4053760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672963" y="21267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52244" y="3242113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63682" y="6026898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06448" y="6316894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815273" y="5492632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20684" y="6416253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714874" y="668341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57690" y="1488096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770839" y="2991198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9904" y="2064437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84151" y="2646270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78193" y="401243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23019" y="6201015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14518" y="637070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0974" y="6796206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3962" y="1118537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92630" y="661545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029777" y="3902939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02639" y="1447895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138710" y="3933284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474114" y="435212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411006" y="6788089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79185" y="549048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004225" y="1033948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83032" y="5272374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640509" y="303055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92193" y="308200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59007" y="2269683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42062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B84B"/>
                </a:solidFill>
                <a:latin typeface="Segoe UI"/>
              </a:rPr>
              <a:t>APPENDIX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" y="640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EEF7"/>
                </a:solidFill>
                <a:latin typeface="Segoe UI Light"/>
              </a:rPr>
              <a:t>End-to-end demo runbook (the full loop, live)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1417320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2920" y="1417320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141732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" y="1417320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Morning Report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77639" y="1417320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Start where the day starts — ranked overnight findings.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1417320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Triage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2075688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2920" y="2075688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2075688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2075688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Sleeping Cells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77639" y="2075688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Drill into a Critical: recent[] vs baseline[] evidence.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41080" y="2075688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Detection logic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2734056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02920" y="2734056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2734056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" y="2734056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Performance Explorer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77639" y="2734056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Trend the same cell's traffic KPI to confirm the flatline.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41080" y="2734056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KPI verification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02920" y="3392424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02920" y="3392424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392424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7280" y="3392424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Overshooting → Map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77639" y="3392424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Pick a candidate; check azimuth &amp; distance geometry.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41080" y="3392424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Diagnosis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4050791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2920" y="4050791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4050791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" y="4050791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RET Management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77639" y="4050791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Read the tilt; stage the fix; show the vendor command.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41080" y="4050791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Change (staged)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2920" y="4709159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02920" y="4709159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4709159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7280" y="4709159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CM Parameter Audit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77639" y="4709159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Scan the same area against golden rules.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41080" y="4709159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Config hygiene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02920" y="5367527"/>
            <a:ext cx="11155680" cy="603504"/>
          </a:xfrm>
          <a:prstGeom prst="roundRect">
            <a:avLst>
              <a:gd name="adj" fmla="val 5000"/>
            </a:avLst>
          </a:prstGeom>
          <a:solidFill>
            <a:srgbClr val="141E2B"/>
          </a:solidFill>
          <a:ln w="12700">
            <a:solidFill>
              <a:srgbClr val="30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2920" y="5367527"/>
            <a:ext cx="457200" cy="60350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2920" y="5367527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2"/>
                </a:solidFill>
                <a:latin typeface="Segoe UI Light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7280" y="5367527"/>
            <a:ext cx="28346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8EEF7"/>
                </a:solidFill>
                <a:latin typeface="Segoe UI"/>
              </a:rPr>
              <a:t>Change Impact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77639" y="5367527"/>
            <a:ext cx="45720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7C9"/>
                </a:solidFill>
                <a:latin typeface="Segoe UI"/>
              </a:rPr>
              <a:t>Show yesterday's changes correlated with PM deltas.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41080" y="5367527"/>
            <a:ext cx="28803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3DD6B0"/>
                </a:solidFill>
                <a:latin typeface="Segoe UI"/>
              </a:rPr>
              <a:t>↳ Verification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6044183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4869C"/>
                </a:solidFill>
                <a:latin typeface="Segoe UI"/>
              </a:rPr>
              <a:t>≈ 20 minutes at demo pace. Steps 1–4 are safe anywhere; steps 5–7 stage changes only — nothing is applied during the demo.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515273" y="3838919"/>
            <a:ext cx="676173" cy="18936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515273" y="3838919"/>
            <a:ext cx="577808" cy="70415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515273" y="3068439"/>
            <a:ext cx="1303482" cy="77048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1267693" y="2725536"/>
            <a:ext cx="684544" cy="4678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67693" y="3193428"/>
            <a:ext cx="425784" cy="12395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755388" y="3193428"/>
            <a:ext cx="512305" cy="94560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91446" y="4028285"/>
            <a:ext cx="1780978" cy="19324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91446" y="4028285"/>
            <a:ext cx="137556" cy="36283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93081" y="4028285"/>
            <a:ext cx="98365" cy="51479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91446" y="3068439"/>
            <a:ext cx="627309" cy="95984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147524" y="2080725"/>
            <a:ext cx="1103798" cy="142994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062435" y="2280872"/>
            <a:ext cx="1188887" cy="122979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1322" y="3510669"/>
            <a:ext cx="73444" cy="150866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98681" y="3510669"/>
            <a:ext cx="1152641" cy="48572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51322" y="3510669"/>
            <a:ext cx="711417" cy="61293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51322" y="3510669"/>
            <a:ext cx="655265" cy="132133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04997" y="5438235"/>
            <a:ext cx="674341" cy="50439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47524" y="1659245"/>
            <a:ext cx="1171437" cy="42148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643" y="1438242"/>
            <a:ext cx="1140881" cy="64248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47524" y="1689728"/>
            <a:ext cx="290994" cy="39099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05427" y="5019330"/>
            <a:ext cx="1219339" cy="53321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5427" y="5552542"/>
            <a:ext cx="1291335" cy="96348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1753723" y="5198641"/>
            <a:ext cx="220879" cy="141766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329002" y="4221529"/>
            <a:ext cx="1643422" cy="16959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231925" y="102875"/>
            <a:ext cx="688195" cy="30787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20120" y="102875"/>
            <a:ext cx="308859" cy="95418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575626" y="408401"/>
            <a:ext cx="866237" cy="149924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41863" y="408401"/>
            <a:ext cx="830072" cy="160397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318961" y="481592"/>
            <a:ext cx="1204925" cy="117765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62435" y="1659245"/>
            <a:ext cx="1256526" cy="62162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231925" y="410748"/>
            <a:ext cx="1087036" cy="124849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18961" y="1659245"/>
            <a:ext cx="249953" cy="104469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18961" y="1659245"/>
            <a:ext cx="280837" cy="11202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318961" y="503367"/>
            <a:ext cx="1293740" cy="115587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18961" y="1301652"/>
            <a:ext cx="722849" cy="35759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6643" y="1438242"/>
            <a:ext cx="360114" cy="174342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6757" y="3181662"/>
            <a:ext cx="1229953" cy="123293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6757" y="3181662"/>
            <a:ext cx="731924" cy="81473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70821" y="4543078"/>
            <a:ext cx="722260" cy="123428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708044" y="5777365"/>
            <a:ext cx="1662777" cy="29103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29002" y="4391120"/>
            <a:ext cx="675995" cy="155151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93081" y="4543078"/>
            <a:ext cx="911916" cy="139955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843763" y="1575048"/>
            <a:ext cx="1731863" cy="33259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75626" y="1907641"/>
            <a:ext cx="1243129" cy="116079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1753723" y="5198641"/>
            <a:ext cx="409397" cy="162981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1837271" y="5509796"/>
            <a:ext cx="325849" cy="131865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1075225" y="5608485"/>
            <a:ext cx="1087895" cy="121996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43651" y="4854158"/>
            <a:ext cx="1436509" cy="9566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43651" y="4854158"/>
            <a:ext cx="1510072" cy="34448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43651" y="4854158"/>
            <a:ext cx="1593620" cy="65563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43651" y="4854158"/>
            <a:ext cx="831574" cy="75432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243651" y="4139037"/>
            <a:ext cx="511737" cy="71512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568914" y="1575048"/>
            <a:ext cx="1274849" cy="112888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599798" y="1575048"/>
            <a:ext cx="1243965" cy="19621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3612701" y="503367"/>
            <a:ext cx="231062" cy="107168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2228979" y="1057060"/>
            <a:ext cx="1614784" cy="51798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595193" y="481592"/>
            <a:ext cx="928693" cy="136866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23886" y="481592"/>
            <a:ext cx="88815" cy="2177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228979" y="481592"/>
            <a:ext cx="1294907" cy="57546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3041810" y="481592"/>
            <a:ext cx="482076" cy="82006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523886" y="481592"/>
            <a:ext cx="1614392" cy="23054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342348" y="2745941"/>
            <a:ext cx="1755409" cy="47723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42348" y="1850120"/>
            <a:ext cx="149019" cy="89582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342348" y="1218516"/>
            <a:ext cx="374695" cy="152742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321289" y="2650709"/>
            <a:ext cx="776468" cy="57246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321289" y="2650709"/>
            <a:ext cx="1372188" cy="66667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321289" y="2650709"/>
            <a:ext cx="434099" cy="148832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1680160" y="5198641"/>
            <a:ext cx="73563" cy="61220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680160" y="5509796"/>
            <a:ext cx="157111" cy="30105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1075225" y="5608485"/>
            <a:ext cx="604935" cy="20236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43" y="1438242"/>
            <a:ext cx="1431875" cy="2514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" y="410748"/>
            <a:ext cx="1225282" cy="102749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097757" y="2725536"/>
            <a:ext cx="854480" cy="49763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90461" y="4316801"/>
            <a:ext cx="1434305" cy="70252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90461" y="3996395"/>
            <a:ext cx="208220" cy="32040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2435" y="1689728"/>
            <a:ext cx="376083" cy="59114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62435" y="2280872"/>
            <a:ext cx="357994" cy="60467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62435" y="1771267"/>
            <a:ext cx="1537363" cy="50960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1075225" y="5198641"/>
            <a:ext cx="678498" cy="40984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231925" y="410748"/>
            <a:ext cx="206593" cy="127898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438518" y="1057060"/>
            <a:ext cx="790461" cy="63266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324766" y="5019330"/>
            <a:ext cx="1383278" cy="104907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324766" y="5019330"/>
            <a:ext cx="71996" cy="149670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324766" y="4832005"/>
            <a:ext cx="581821" cy="18732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324766" y="5019330"/>
            <a:ext cx="808272" cy="62972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596710" y="4123604"/>
            <a:ext cx="1366029" cy="290994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596710" y="4414598"/>
            <a:ext cx="1309877" cy="41740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20429" y="2703935"/>
            <a:ext cx="1148485" cy="18160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098681" y="2885542"/>
            <a:ext cx="321748" cy="111085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2568914" y="1850253"/>
            <a:ext cx="26279" cy="85368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595193" y="503367"/>
            <a:ext cx="1017508" cy="1346886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2228979" y="1057060"/>
            <a:ext cx="366214" cy="79319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906587" y="4832005"/>
            <a:ext cx="801457" cy="123639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568914" y="1771267"/>
            <a:ext cx="30884" cy="932668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568914" y="2703935"/>
            <a:ext cx="393825" cy="1419669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568914" y="1301652"/>
            <a:ext cx="472896" cy="1402283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599798" y="503367"/>
            <a:ext cx="1012903" cy="1267900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2228979" y="1057060"/>
            <a:ext cx="370819" cy="714207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3041810" y="503367"/>
            <a:ext cx="570891" cy="798285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228979" y="1057060"/>
            <a:ext cx="812831" cy="244592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906587" y="4832005"/>
            <a:ext cx="226451" cy="817051"/>
          </a:xfrm>
          <a:prstGeom prst="bentConnector3">
            <a:avLst/>
          </a:prstGeom>
          <a:ln w="9525">
            <a:solidFill>
              <a:srgbClr val="2230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5515273" y="3838919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267693" y="319342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191446" y="4028285"/>
            <a:ext cx="18288" cy="1828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251322" y="3510669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679338" y="5438235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47524" y="2080725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05427" y="5552542"/>
            <a:ext cx="27432" cy="27432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454190" y="287215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974602" y="6616308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972424" y="4221529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920120" y="10287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41863" y="408401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318961" y="1659245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6757" y="3181662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70821" y="5777365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29002" y="4391120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093081" y="4543078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575626" y="1907641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2163120" y="6828453"/>
            <a:ext cx="41148" cy="4114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243651" y="485415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843763" y="1575048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523886" y="48159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342348" y="2745941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321289" y="2650709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680160" y="5810850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43" y="1438242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097757" y="322317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52237" y="2725536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90461" y="4316801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491367" y="1850120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62435" y="2280872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753723" y="5198641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438518" y="1689728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231925" y="410748"/>
            <a:ext cx="41148" cy="4114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717043" y="1218516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818755" y="3068439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2324766" y="5019330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596710" y="4414598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420429" y="288554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595193" y="1850253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837271" y="5509796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708044" y="6068404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2568914" y="2703935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416302" y="4401708"/>
            <a:ext cx="41148" cy="4114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223226" y="6784631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599798" y="1771267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420397" y="2255976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12701" y="503367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98681" y="3996395"/>
            <a:ext cx="18288" cy="1828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2962739" y="4123604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531702" y="3108101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693477" y="3317382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004997" y="5942633"/>
            <a:ext cx="27432" cy="27432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228979" y="1057060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075225" y="5608485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041810" y="1301652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014836" y="6449296"/>
            <a:ext cx="18288" cy="18288"/>
          </a:xfrm>
          <a:prstGeom prst="ellipse">
            <a:avLst/>
          </a:prstGeom>
          <a:solidFill>
            <a:srgbClr val="3A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396762" y="6516031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755388" y="4139037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138278" y="712132"/>
            <a:ext cx="41148" cy="41148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71775" y="6602069"/>
            <a:ext cx="27432" cy="27432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906587" y="4832005"/>
            <a:ext cx="41148" cy="41148"/>
          </a:xfrm>
          <a:prstGeom prst="ellipse">
            <a:avLst/>
          </a:prstGeom>
          <a:solidFill>
            <a:srgbClr val="8B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133038" y="5649056"/>
            <a:ext cx="18288" cy="18288"/>
          </a:xfrm>
          <a:prstGeom prst="ellipse">
            <a:avLst/>
          </a:prstGeom>
          <a:solidFill>
            <a:srgbClr val="3DD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271935" y="2012379"/>
            <a:ext cx="27432" cy="27432"/>
          </a:xfrm>
          <a:prstGeom prst="ellipse">
            <a:avLst/>
          </a:prstGeom>
          <a:solidFill>
            <a:srgbClr val="A9B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C1FF"/>
                </a:solidFill>
                <a:latin typeface="Segoe UI"/>
              </a:rPr>
              <a:t>TAKEAWAYS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 Light"/>
              </a:rPr>
              <a:t>Evidence in, action out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22960" y="34290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Every detection is explainable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— fixed formulas, visible thresholds, raw KPI evidence on every issue card.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Two vendors disappear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— KPI recipes and CM adapters give you one workflow across Nokia and Huawei, 2G–5G.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The loop closes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— detect → diagnose → staged change → next-day impact, with Config History as the audit trail.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8BC1FF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Nothing is interpolated, nothing writes blind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— missing data shows as missing; changes stage before they apply.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141E2B"/>
          </a:solidFill>
          <a:ln w="12700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B84B"/>
                </a:solidFill>
                <a:latin typeface="Segoe UI"/>
              </a:rPr>
              <a:t>Questions?  </a:t>
            </a:r>
            <a:r>
              <a:rPr sz="1300" b="0" i="0">
                <a:solidFill>
                  <a:srgbClr val="E8EEF7"/>
                </a:solidFill>
                <a:latin typeface="Segoe UI"/>
              </a:rPr>
              <a:t>Name a site — let's run the loop on it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