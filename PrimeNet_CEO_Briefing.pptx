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Elevator pitch: PrimeNet is Zain's own network-intelligence platform. It replaced scattered vendor tools and manual spreadsheets with one live web platform covering both vendors and every radio generation. Built entirely in-house — no external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before/after in one view. Left: how radio engineering worked — per-vendor consoles, manual exports, reactive troubleshooting, knowledge concentrated in individuals. Right: one platform, automated data, proactive detection, codified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of what exists today: 40+ modules across performance, optimization and configuration; both vendors normalized into one KPI language; data flows automatically; ~19,000 vendor parameter reference pages searchable in-tool.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value pillars: engineering time recovered; problems caught before they hit customers; analysis converted directly into network changes; and all of it on owned IP with no recurring license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Sentiment is the leading indicator of a tool's real value. PrimeNet moved from 'another tool' to daily habit: the day opens with its morning report, its numbers settle debates, and because it is built in-house, engineers see their feedback shipped — which keeps adoption growing organically.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Zain this is bigger than a tool: it is owned intelligence about our most valuable asset. It makes us vendor-independent in how we see the network, it protects institutional knowledge, and it is the working proof of the data-driven culture we want everywhere. The trajectory: recommendations, then closed-loop automation, then scale to new domains and potentially other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data that runs radio engineering answers questions across the business. The Power BI bridge already carries network insight out of engineering. Road ahead: now — the radio network unified; next — shared cross-department dashboards and complaint-to-cell correlation; beyond — AI-driven, closed-loop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63840" y="822960"/>
            <a:ext cx="1236269" cy="903427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0109" y="822960"/>
            <a:ext cx="1426464" cy="61813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908438" y="1441094"/>
            <a:ext cx="618134" cy="1236269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908438" y="2249424"/>
            <a:ext cx="1806854" cy="427939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26573" y="1441094"/>
            <a:ext cx="1188720" cy="808330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726387"/>
            <a:ext cx="713232" cy="13551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8438" y="2677363"/>
            <a:ext cx="1141171" cy="641909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049610" y="2249424"/>
            <a:ext cx="665683" cy="106984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90522" y="1653069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026791" y="749642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53255" y="1367776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35120" y="2604045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641975" y="2176106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754" y="3008210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76291" y="3245954"/>
            <a:ext cx="146637" cy="146637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9326880" y="3931920"/>
            <a:ext cx="808330" cy="59070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35210" y="3931920"/>
            <a:ext cx="932688" cy="404165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663733" y="4336085"/>
            <a:ext cx="404165" cy="808330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663733" y="4864608"/>
            <a:ext cx="1181405" cy="27980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67898" y="4336085"/>
            <a:ext cx="777240" cy="528523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4522622"/>
            <a:ext cx="466344" cy="886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3733" y="5144414"/>
            <a:ext cx="746150" cy="419710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1409883" y="4864608"/>
            <a:ext cx="435254" cy="69951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70395" y="4466137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78725" y="3875435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011413" y="4279600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07248" y="5087929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88653" y="4808123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736739" y="5352191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353398" y="5507639"/>
            <a:ext cx="112970" cy="112970"/>
          </a:xfrm>
          <a:prstGeom prst="ellipse">
            <a:avLst/>
          </a:prstGeom>
          <a:solidFill>
            <a:srgbClr val="8BC1FF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1417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AUGUST 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17830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PrimeNet</a:t>
            </a:r>
            <a:endParaRPr lang="en-US" sz="5800" dirty="0"/>
          </a:p>
        </p:txBody>
      </p:sp>
      <p:sp>
        <p:nvSpPr>
          <p:cNvPr id="34" name="Text 32"/>
          <p:cNvSpPr/>
          <p:nvPr/>
        </p:nvSpPr>
        <p:spPr>
          <a:xfrm>
            <a:off x="82296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Zain's radio network — one platform, every answer.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2960" y="34290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 by Zain engineers, PrimeNet unifies performance and configuration data from every vendor and every generation of the radio network into one live, shared source of insight.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4892040"/>
            <a:ext cx="1841602" cy="457200"/>
          </a:xfrm>
          <a:prstGeom prst="roundRect">
            <a:avLst>
              <a:gd name="adj" fmla="val 50000"/>
            </a:avLst>
          </a:prstGeom>
          <a:solidFill>
            <a:srgbClr val="1B2736"/>
          </a:solidFill>
          <a:ln w="12700">
            <a:solidFill>
              <a:srgbClr val="30425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analysis tools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893162" y="4892040"/>
            <a:ext cx="2266798" cy="457200"/>
          </a:xfrm>
          <a:prstGeom prst="roundRect">
            <a:avLst>
              <a:gd name="adj" fmla="val 50000"/>
            </a:avLst>
          </a:prstGeom>
          <a:solidFill>
            <a:srgbClr val="1B2736"/>
          </a:solidFill>
          <a:ln w="12700">
            <a:solidFill>
              <a:srgbClr val="30425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+ Huawei, unified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88559" y="4892040"/>
            <a:ext cx="1756562" cy="457200"/>
          </a:xfrm>
          <a:prstGeom prst="roundRect">
            <a:avLst>
              <a:gd name="adj" fmla="val 50000"/>
            </a:avLst>
          </a:prstGeom>
          <a:solidFill>
            <a:srgbClr val="1B2736"/>
          </a:solidFill>
          <a:ln w="12700">
            <a:solidFill>
              <a:srgbClr val="30425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 · 3G · 4G · 5G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73722" y="48920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2736"/>
          </a:solidFill>
          <a:ln w="12700">
            <a:solidFill>
              <a:srgbClr val="30425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24/7, automated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2960" y="6126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Radio Network Optimization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256032"/>
            <a:ext cx="499262" cy="36484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7702" y="256032"/>
            <a:ext cx="576072" cy="24963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04143" y="505663"/>
            <a:ext cx="249631" cy="49926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204143" y="832104"/>
            <a:ext cx="729691" cy="17282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3774" y="505663"/>
            <a:ext cx="480060" cy="3264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620878"/>
            <a:ext cx="288036" cy="54726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4143" y="1004926"/>
            <a:ext cx="460858" cy="25923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665001" y="832104"/>
            <a:ext cx="268834" cy="432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4112" y="57655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3375" y="211704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9447" y="46133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9816" y="96059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9507" y="78777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48" y="112381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673" y="121983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TRANSFORMATION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and manual, to unified and live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1417320"/>
            <a:ext cx="5230368" cy="4983480"/>
          </a:xfrm>
          <a:prstGeom prst="roundRect">
            <a:avLst>
              <a:gd name="adj" fmla="val 2202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1417320"/>
            <a:ext cx="5230368" cy="4983480"/>
          </a:xfrm>
          <a:prstGeom prst="roundRect">
            <a:avLst>
              <a:gd name="adj" fmla="val 2202"/>
            </a:avLst>
          </a:prstGeom>
          <a:solidFill>
            <a:srgbClr val="1B2736"/>
          </a:solidFill>
          <a:ln w="15875">
            <a:solidFill>
              <a:srgbClr val="2757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5584" y="3685032"/>
            <a:ext cx="566928" cy="457200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1892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tools, manual effort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9984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PRIMENET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9984" y="1892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live answers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23317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consoles per vendor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and Huawei data lived apart, in expert-only tools.</a:t>
            </a:r>
            <a:endParaRPr lang="en-US" sz="13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10712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25880" y="336499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exports and spreadsheets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assemble one KPI view — stale by the time it shipped.</a:t>
            </a:r>
            <a:endParaRPr lang="en-US" sz="13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43984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439826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by necessity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often surfaced only after customers felt them.</a:t>
            </a:r>
            <a:endParaRPr lang="en-US" sz="13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77256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325880" y="5431536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 a few heads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and know-how depended on individuals.</a:t>
            </a:r>
            <a:endParaRPr lang="en-US" sz="13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37744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87184" y="23317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whole network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vendors, 2G to 5G, in a single web platform.</a:t>
            </a:r>
            <a:endParaRPr lang="en-US" sz="13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34107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87184" y="336499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on its own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pipeline loads network data around the clock.</a:t>
            </a:r>
            <a:endParaRPr lang="en-US" sz="13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443984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187184" y="439826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find us first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Sleeping-cell, overshooting and capacity detectors flag issues early.</a:t>
            </a:r>
            <a:endParaRPr lang="en-US" sz="13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5477256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187184" y="5431536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built into the tool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dictionaries and shared workflows, open to every engineer.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256032"/>
            <a:ext cx="499262" cy="36484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7702" y="256032"/>
            <a:ext cx="576072" cy="24963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04143" y="505663"/>
            <a:ext cx="249631" cy="49926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204143" y="832104"/>
            <a:ext cx="729691" cy="17282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3774" y="505663"/>
            <a:ext cx="480060" cy="3264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620878"/>
            <a:ext cx="288036" cy="54726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4143" y="1004926"/>
            <a:ext cx="460858" cy="25923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665001" y="832104"/>
            <a:ext cx="268834" cy="432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4112" y="57655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3375" y="211704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9447" y="46133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9816" y="96059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9507" y="78777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48" y="112381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673" y="121983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PLATFORM TODAY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radio network, in one place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1481328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645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22960" y="2350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modules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26700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detectors, optimizers and extractors — behind one secure login.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34256" y="1481328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645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608576" y="2350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vendors, one view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08576" y="26700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and Huawei counters translated into the same KPI language.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19872" y="1481328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1645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2G–5G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394192" y="2350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26700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filter set and one workflow across the whole radio estate.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730752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89534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822960" y="4599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2960" y="491947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and daily network data loads itself — no manual collection.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34256" y="3730752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389534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19k+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4608576" y="4599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references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608576" y="491947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knowledge searchable in seconds, not buried in manuals.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19872" y="3730752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94192" y="389534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8394192" y="4599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394192" y="491947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quotes the same number, from the same place.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live configuration extraction from the network, remote antenna control (RET), automated morning reports, and full audit trails — in the same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256032"/>
            <a:ext cx="499262" cy="36484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7702" y="256032"/>
            <a:ext cx="576072" cy="24963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04143" y="505663"/>
            <a:ext cx="249631" cy="49926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204143" y="832104"/>
            <a:ext cx="729691" cy="17282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3774" y="505663"/>
            <a:ext cx="480060" cy="3264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620878"/>
            <a:ext cx="288036" cy="54726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4143" y="1004926"/>
            <a:ext cx="460858" cy="25923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665001" y="832104"/>
            <a:ext cx="268834" cy="432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4112" y="57655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3375" y="211704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9447" y="46133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9816" y="96059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9507" y="78777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48" y="112381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673" y="121983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ADDED VALUE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answers, earlier warnings, lower cost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1481328"/>
            <a:ext cx="5513832" cy="2286000"/>
          </a:xfrm>
          <a:prstGeom prst="roundRect">
            <a:avLst>
              <a:gd name="adj" fmla="val 4800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1773936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01952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175564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00200" y="210312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work, down to minutes.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68680" y="2651760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once required exports, macros and merging are now one query away — for anyone, not just specialists.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1481328"/>
            <a:ext cx="5513832" cy="2286000"/>
          </a:xfrm>
          <a:prstGeom prst="roundRect">
            <a:avLst>
              <a:gd name="adj" fmla="val 4800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01968" y="1773936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1901952"/>
            <a:ext cx="310896" cy="31089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360920" y="175564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quality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7360920" y="210312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before the customer does.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629400" y="2651760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continuously scan for sleeping cells, overshooting, capacity hotspots and coverage gaps.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48640" y="4023360"/>
            <a:ext cx="5513832" cy="2286000"/>
          </a:xfrm>
          <a:prstGeom prst="roundRect">
            <a:avLst>
              <a:gd name="adj" fmla="val 4800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41248" y="4315968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43984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600200" y="429768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1600200" y="4645152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that ends in execution.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868680" y="5193792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Load-balancing optimizers, remote tilt control and config generators turn findings into ready-to-apply changes.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309360" y="4023360"/>
            <a:ext cx="5513832" cy="2286000"/>
          </a:xfrm>
          <a:prstGeom prst="roundRect">
            <a:avLst>
              <a:gd name="adj" fmla="val 4800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601968" y="4315968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443984"/>
            <a:ext cx="310896" cy="31089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360920" y="429768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economics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7360920" y="4645152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license. 100% Zain IP.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6629400" y="5193792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evolved in-house — new features ship in days, shaped directly by the engineers who use them.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256032"/>
            <a:ext cx="499262" cy="36484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7702" y="256032"/>
            <a:ext cx="576072" cy="24963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04143" y="505663"/>
            <a:ext cx="249631" cy="49926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204143" y="832104"/>
            <a:ext cx="729691" cy="17282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3774" y="505663"/>
            <a:ext cx="480060" cy="3264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620878"/>
            <a:ext cx="288036" cy="54726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4143" y="1004926"/>
            <a:ext cx="460858" cy="25923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665001" y="832104"/>
            <a:ext cx="268834" cy="432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4112" y="57655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3375" y="211704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9447" y="46133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9816" y="96059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9507" y="78777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48" y="112381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673" y="121983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SENTIMENT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start their day with PrimeNet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146304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B2736"/>
          </a:solidFill>
          <a:ln w="12700">
            <a:solidFill>
              <a:srgbClr val="2757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463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8B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changed — from “where is the data?” to “what do we do about it?”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926080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054096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2960" y="36576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firefighting to foresight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2960" y="432511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 begin with the automated radio report — not a scramble to gather data.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61334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35654" y="2926080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3054096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635654" y="36576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everyone trusts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3635654" y="432511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Engineers, NOC and management debate actions now — not whose figure is right.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74029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48349" y="2926080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3054096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448349" y="36576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Pride of ownership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448349" y="432511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Zain engineers for Zain's network. Every request lands with a team that can ship it.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986723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261043" y="2926080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59" y="3054096"/>
            <a:ext cx="310896" cy="31089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261043" y="36576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pull, not push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9261043" y="432511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spreads module by module — teams ask for more, they aren't told to use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256032"/>
            <a:ext cx="499262" cy="36484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7702" y="256032"/>
            <a:ext cx="576072" cy="24963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04143" y="505663"/>
            <a:ext cx="249631" cy="49926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204143" y="832104"/>
            <a:ext cx="729691" cy="17282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3774" y="505663"/>
            <a:ext cx="480060" cy="3264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620878"/>
            <a:ext cx="288036" cy="54726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4143" y="1004926"/>
            <a:ext cx="460858" cy="25923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665001" y="832104"/>
            <a:ext cx="268834" cy="432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4112" y="57655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3375" y="211704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9447" y="46133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9816" y="96059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9507" y="78777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48" y="112381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673" y="121983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WHAT IT MEANS FOR ZAIN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intelligence, a self-optimizing future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728216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1581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independence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1325880" y="194767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sees its multi-vendor network through its own eyes — not through each vendor's window. That strengthens every vendor conversation.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172968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300984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2588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1325880" y="3520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knowledge is codified in a platform Zain owns — resilient to staff rotation and vendor churn.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48640" y="4745736"/>
            <a:ext cx="566928" cy="566928"/>
          </a:xfrm>
          <a:prstGeom prst="ellipse">
            <a:avLst/>
          </a:prstGeom>
          <a:solidFill>
            <a:srgbClr val="223246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873752"/>
            <a:ext cx="310896" cy="31089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25880" y="4727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operating model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1325880" y="50932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across the radio organization start from shared, live evidence — the culture the whole business is moving toward.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537960" y="1481328"/>
            <a:ext cx="5102352" cy="4892040"/>
          </a:xfrm>
          <a:prstGeom prst="roundRect">
            <a:avLst>
              <a:gd name="adj" fmla="val 2243"/>
            </a:avLst>
          </a:prstGeom>
          <a:solidFill>
            <a:srgbClr val="1B2736"/>
          </a:solidFill>
          <a:ln w="15875">
            <a:solidFill>
              <a:srgbClr val="27577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90372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903720" y="2304288"/>
            <a:ext cx="457200" cy="457200"/>
          </a:xfrm>
          <a:prstGeom prst="ellipse">
            <a:avLst/>
          </a:prstGeom>
          <a:solidFill>
            <a:srgbClr val="223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7589520" y="22860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optimization</a:t>
            </a:r>
            <a:endParaRPr lang="en-US" sz="13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that recommend the fix — and learn from every outcome.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903720" y="3630168"/>
            <a:ext cx="457200" cy="457200"/>
          </a:xfrm>
          <a:prstGeom prst="ellipse">
            <a:avLst/>
          </a:prstGeom>
          <a:solidFill>
            <a:srgbClr val="223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7589520" y="36118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automation</a:t>
            </a:r>
            <a:endParaRPr lang="en-US" sz="13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flagged issue to applied change with one approval, not a chain of manual steps.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6903720" y="4956048"/>
            <a:ext cx="457200" cy="457200"/>
          </a:xfrm>
          <a:prstGeom prst="ellipse">
            <a:avLst/>
          </a:prstGeom>
          <a:solidFill>
            <a:srgbClr val="223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7589520" y="49377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scales</a:t>
            </a:r>
            <a:endParaRPr lang="en-US" sz="13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technologies and new data domains on the same foundation — a blueprint other Zain operations can adopt.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256032"/>
            <a:ext cx="499262" cy="364846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7702" y="256032"/>
            <a:ext cx="576072" cy="24963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04143" y="505663"/>
            <a:ext cx="249631" cy="49926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204143" y="832104"/>
            <a:ext cx="729691" cy="17282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3774" y="505663"/>
            <a:ext cx="480060" cy="326441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620878"/>
            <a:ext cx="288036" cy="547268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4143" y="1004926"/>
            <a:ext cx="460858" cy="259232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665001" y="832104"/>
            <a:ext cx="268834" cy="432054"/>
          </a:xfrm>
          <a:prstGeom prst="line">
            <a:avLst/>
          </a:prstGeom>
          <a:noFill/>
          <a:ln w="9525">
            <a:solidFill>
              <a:srgbClr val="30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4112" y="57655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3375" y="211704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9447" y="46133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9816" y="96059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9507" y="787776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48" y="1123818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673" y="1219830"/>
            <a:ext cx="88655" cy="88655"/>
          </a:xfrm>
          <a:prstGeom prst="ellipse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BEYOND ENGINEERING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every department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bridge is already live: network insight can be delivered where each team works — no engineering degree required.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1828800"/>
            <a:ext cx="2139696" cy="1371600"/>
          </a:xfrm>
          <a:prstGeom prst="roundRect">
            <a:avLst>
              <a:gd name="adj" fmla="val 666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9751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&amp; Operations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4871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health, fewer blind spots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88920" y="1828800"/>
            <a:ext cx="2139696" cy="1371600"/>
          </a:xfrm>
          <a:prstGeom prst="roundRect">
            <a:avLst>
              <a:gd name="adj" fmla="val 666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9751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Planning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71800" y="24871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where the data shows demand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828800"/>
            <a:ext cx="2139696" cy="1371600"/>
          </a:xfrm>
          <a:prstGeom prst="roundRect">
            <a:avLst>
              <a:gd name="adj" fmla="val 666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9751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Marketing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4871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offers where the network can carry them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1828800"/>
            <a:ext cx="2139696" cy="1371600"/>
          </a:xfrm>
          <a:prstGeom prst="roundRect">
            <a:avLst>
              <a:gd name="adj" fmla="val 666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9751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52360" y="24871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cell behind the complaint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1828800"/>
            <a:ext cx="2139696" cy="1371600"/>
          </a:xfrm>
          <a:prstGeom prst="roundRect">
            <a:avLst>
              <a:gd name="adj" fmla="val 6667"/>
            </a:avLst>
          </a:prstGeom>
          <a:solidFill>
            <a:srgbClr val="182230"/>
          </a:solidFill>
          <a:ln w="12700">
            <a:solidFill>
              <a:srgbClr val="3042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0" y="19751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0" y="24871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— no translation layer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3042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0690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3434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network unified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" y="468172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tools live across performance, optimization and configuration; Power BI bridge in place.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59936" y="4617720"/>
            <a:ext cx="274320" cy="256032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4370832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B2736"/>
          </a:solidFill>
          <a:ln w="15875">
            <a:solidFill>
              <a:srgbClr val="2757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26864" y="40690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26864" y="43434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insight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626864" y="468172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KPI dashboards, embedded analytics, complaint-to-cell correlation with Customer Care.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82128" y="4617720"/>
            <a:ext cx="274320" cy="256032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8193024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223246"/>
          </a:solidFill>
          <a:ln w="15875">
            <a:solidFill>
              <a:srgbClr val="3A6B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49056" y="40690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49056" y="43434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AI-driven, closed-loop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449056" y="468172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detects, recommends and — with approval — corrects itself.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Zain, for Zain — and just getting started.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PrimeNet — CEO Briefing</dc:title>
  <dc:subject>PptxGenJS Presentation</dc:subject>
  <dc:creator>Zain — Radio Network Optimization</dc:creator>
  <cp:lastModifiedBy>Zain — Radio Network Optimization</cp:lastModifiedBy>
  <cp:revision>1</cp:revision>
  <dcterms:created xsi:type="dcterms:W3CDTF">2026-08-05T13:30:52Z</dcterms:created>
  <dcterms:modified xsi:type="dcterms:W3CDTF">2026-08-05T13:30:52Z</dcterms:modified>
</cp:coreProperties>
</file>