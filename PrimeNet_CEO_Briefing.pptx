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Elevator pitch: PrimeNet is Zain's own network-intelligence platform — one login for both vendors and every radio generation, built entirely in-house.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Before: engineers stitched answers from six disconnected places. After: one platform — KPIs, detectors, configuration, maps, reports and vendor knowledge behind a single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today: 40+ modules; Nokia and Huawei normalized into one KPI language; 2G through 5G; data loads itself around the clock; ~19,000 vendor parameter reference pages searchable in-tool; one shared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in one view: assembling a KPI picture used to take hours of exports and merging — now minutes. Detectors find problems before customers feel them; analysis ends in ready-to-apply changes; no license fees; features ship in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Sentiment: PrimeNet moved from 'another tool' to daily habit. The morning report opens the day, its numbers settle debates, and because it's built in-house, engineers see their feedback shipped — adoption spreads by pull, not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future: PrimeNet as the network-truth hub for the whole company. Executive BI and NOC views are live today via the Power BI bridge. Planned next: marketing (launch offers where coverage shines), sales (sell what the network can carry), customer care (see the cell behind the complaint), and planning portals — all fed from the same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trajectory rises: today the radio network is unified; next, shared dashboards across departments; then dedicated marketing and sales portals fed by network truth; beyond that, an AI-driven closed loop where the network detects, recommends and — with approval — corrects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7863840" y="822960"/>
            <a:ext cx="1236269" cy="903427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00109" y="822960"/>
            <a:ext cx="1426464" cy="61813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08438" y="1441094"/>
            <a:ext cx="618134" cy="1236269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908438" y="2249424"/>
            <a:ext cx="1806854" cy="427939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26573" y="1441094"/>
            <a:ext cx="1188720" cy="808330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1726387"/>
            <a:ext cx="713232" cy="13551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08438" y="2677363"/>
            <a:ext cx="1141171" cy="641909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049610" y="2249424"/>
            <a:ext cx="665683" cy="106984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90522" y="1653069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026791" y="749642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453255" y="1367776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35120" y="2604045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641975" y="2176106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503754" y="3008210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976291" y="3245954"/>
            <a:ext cx="146637" cy="146637"/>
          </a:xfrm>
          <a:prstGeom prst="ellipse">
            <a:avLst/>
          </a:prstGeom>
          <a:solidFill>
            <a:srgbClr val="38BDF8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flipV="1">
            <a:off x="9326880" y="3931920"/>
            <a:ext cx="808330" cy="59070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35210" y="3931920"/>
            <a:ext cx="932688" cy="404165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0663733" y="4336085"/>
            <a:ext cx="404165" cy="808330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0663733" y="4864608"/>
            <a:ext cx="1181405" cy="27980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067898" y="4336085"/>
            <a:ext cx="777240" cy="528523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26880" y="4522622"/>
            <a:ext cx="466344" cy="886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663733" y="5144414"/>
            <a:ext cx="746150" cy="419710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1409883" y="4864608"/>
            <a:ext cx="435254" cy="69951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70395" y="4466137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078725" y="3875435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011413" y="4279600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0607248" y="5087929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88653" y="4808123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9736739" y="5352191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1353398" y="5507639"/>
            <a:ext cx="112970" cy="112970"/>
          </a:xfrm>
          <a:prstGeom prst="ellipse">
            <a:avLst/>
          </a:prstGeom>
          <a:solidFill>
            <a:srgbClr val="8BC1FF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1600200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 ·  AUGUST 2026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2960" y="19659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PrimeNet</a:t>
            </a:r>
            <a:endParaRPr lang="en-US" sz="5800" dirty="0"/>
          </a:p>
        </p:txBody>
      </p:sp>
      <p:sp>
        <p:nvSpPr>
          <p:cNvPr id="34" name="Text 32"/>
          <p:cNvSpPr/>
          <p:nvPr/>
        </p:nvSpPr>
        <p:spPr>
          <a:xfrm>
            <a:off x="822960" y="3017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Zain's radio network — one platform, every answer.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22960" y="3977640"/>
            <a:ext cx="1147572" cy="457200"/>
          </a:xfrm>
          <a:prstGeom prst="roundRect">
            <a:avLst>
              <a:gd name="adj" fmla="val 50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tools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2171700" y="397764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+ Huawei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954780" y="3977640"/>
            <a:ext cx="1842516" cy="457200"/>
          </a:xfrm>
          <a:prstGeom prst="roundRect">
            <a:avLst>
              <a:gd name="adj" fmla="val 50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2G · 3G · 4G · 5G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998464" y="3977640"/>
            <a:ext cx="1581912" cy="457200"/>
          </a:xfrm>
          <a:prstGeom prst="roundRect">
            <a:avLst>
              <a:gd name="adj" fmla="val 50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781544" y="3977640"/>
            <a:ext cx="1147572" cy="457200"/>
          </a:xfrm>
          <a:prstGeom prst="roundRect">
            <a:avLst>
              <a:gd name="adj" fmla="val 50000"/>
            </a:avLst>
          </a:prstGeom>
          <a:solidFill>
            <a:srgbClr val="1B2736"/>
          </a:solidFill>
          <a:ln w="12700">
            <a:solidFill>
              <a:srgbClr val="3042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24/7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822960" y="6126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Network Optimization team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THE TRANSFORMATION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scattered, to one platform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668780" y="2400300"/>
            <a:ext cx="2560320" cy="91440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125980" y="2125980"/>
            <a:ext cx="1737360" cy="137160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8780" y="2400300"/>
            <a:ext cx="2286000" cy="219456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25980" y="3497580"/>
            <a:ext cx="1828800" cy="109728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668780" y="2125980"/>
            <a:ext cx="2194560" cy="246888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668780" y="3314700"/>
            <a:ext cx="2560320" cy="128016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8780" y="2400300"/>
            <a:ext cx="457200" cy="109728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3340" y="2125980"/>
            <a:ext cx="365760" cy="1188720"/>
          </a:xfrm>
          <a:prstGeom prst="line">
            <a:avLst/>
          </a:prstGeom>
          <a:noFill/>
          <a:ln w="12700">
            <a:solidFill>
              <a:srgbClr val="5C35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214884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console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063240" y="187452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console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325880" y="324612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exports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429000" y="306324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reports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68680" y="434340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Tribal knowledge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154680" y="4343400"/>
            <a:ext cx="1600200" cy="502920"/>
          </a:xfrm>
          <a:prstGeom prst="roundRect">
            <a:avLst>
              <a:gd name="adj" fmla="val 16364"/>
            </a:avLst>
          </a:prstGeom>
          <a:solidFill>
            <a:srgbClr val="182230"/>
          </a:solidFill>
          <a:ln w="12700">
            <a:solidFill>
              <a:srgbClr val="6B3A4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manuals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40080" y="59893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six places, no single answer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577840" y="3520440"/>
            <a:ext cx="777240" cy="566928"/>
          </a:xfrm>
          <a:prstGeom prst="rightArrow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9144000" y="2103120"/>
            <a:ext cx="9144" cy="16002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60536" y="18196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3607" y="1972727"/>
            <a:ext cx="260787" cy="260787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8412480" y="149961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 flipV="1">
            <a:off x="9144000" y="2903220"/>
            <a:ext cx="1385814" cy="8001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246350" y="26197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9420" y="2772827"/>
            <a:ext cx="260787" cy="260787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10913862" y="27752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9144000" y="3703320"/>
            <a:ext cx="1385814" cy="8001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0246350" y="42199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9420" y="4373027"/>
            <a:ext cx="260787" cy="260787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0913862" y="43754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9144000" y="3703320"/>
            <a:ext cx="9144" cy="16002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8860536" y="50200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4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3607" y="5173127"/>
            <a:ext cx="260787" cy="260787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8412480" y="5669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 flipV="1">
            <a:off x="7758186" y="3703320"/>
            <a:ext cx="1385814" cy="8001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52" name="Shape 46"/>
          <p:cNvSpPr/>
          <p:nvPr/>
        </p:nvSpPr>
        <p:spPr>
          <a:xfrm>
            <a:off x="7474722" y="42199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5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7793" y="4373027"/>
            <a:ext cx="260787" cy="260787"/>
          </a:xfrm>
          <a:prstGeom prst="rect">
            <a:avLst/>
          </a:prstGeom>
        </p:spPr>
      </p:pic>
      <p:sp>
        <p:nvSpPr>
          <p:cNvPr id="54" name="Text 47"/>
          <p:cNvSpPr/>
          <p:nvPr/>
        </p:nvSpPr>
        <p:spPr>
          <a:xfrm>
            <a:off x="5911098" y="43754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50" dirty="0"/>
          </a:p>
        </p:txBody>
      </p:sp>
      <p:sp>
        <p:nvSpPr>
          <p:cNvPr id="55" name="Shape 48"/>
          <p:cNvSpPr/>
          <p:nvPr/>
        </p:nvSpPr>
        <p:spPr>
          <a:xfrm>
            <a:off x="7758186" y="2903220"/>
            <a:ext cx="1385814" cy="800100"/>
          </a:xfrm>
          <a:prstGeom prst="line">
            <a:avLst/>
          </a:prstGeom>
          <a:noFill/>
          <a:ln w="15875">
            <a:solidFill>
              <a:srgbClr val="304258"/>
            </a:solidFill>
            <a:prstDash val="solid"/>
          </a:ln>
        </p:spPr>
      </p:sp>
      <p:sp>
        <p:nvSpPr>
          <p:cNvPr id="56" name="Shape 49"/>
          <p:cNvSpPr/>
          <p:nvPr/>
        </p:nvSpPr>
        <p:spPr>
          <a:xfrm>
            <a:off x="7474722" y="2619756"/>
            <a:ext cx="566928" cy="566928"/>
          </a:xfrm>
          <a:prstGeom prst="ellipse">
            <a:avLst/>
          </a:prstGeom>
          <a:solidFill>
            <a:srgbClr val="1B2736"/>
          </a:solidFill>
          <a:ln w="15875">
            <a:solidFill>
              <a:srgbClr val="304258"/>
            </a:solidFill>
            <a:prstDash val="solid"/>
          </a:ln>
        </p:spPr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7793" y="2772827"/>
            <a:ext cx="260787" cy="260787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5911098" y="27752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50" dirty="0"/>
          </a:p>
        </p:txBody>
      </p:sp>
      <p:sp>
        <p:nvSpPr>
          <p:cNvPr id="59" name="Shape 51"/>
          <p:cNvSpPr/>
          <p:nvPr/>
        </p:nvSpPr>
        <p:spPr>
          <a:xfrm>
            <a:off x="8430768" y="2990088"/>
            <a:ext cx="1426464" cy="1426464"/>
          </a:xfrm>
          <a:prstGeom prst="ellipse">
            <a:avLst/>
          </a:prstGeom>
          <a:solidFill>
            <a:srgbClr val="223246"/>
          </a:solidFill>
          <a:ln w="22225">
            <a:solidFill>
              <a:srgbClr val="38BDF8"/>
            </a:solidFill>
            <a:prstDash val="solid"/>
          </a:ln>
        </p:spPr>
      </p:sp>
      <p:sp>
        <p:nvSpPr>
          <p:cNvPr id="60" name="Text 52"/>
          <p:cNvSpPr/>
          <p:nvPr/>
        </p:nvSpPr>
        <p:spPr>
          <a:xfrm>
            <a:off x="8430768" y="2990088"/>
            <a:ext cx="14264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PrimeNet</a:t>
            </a:r>
            <a:endParaRPr lang="en-US" sz="1450" dirty="0"/>
          </a:p>
        </p:txBody>
      </p:sp>
      <p:sp>
        <p:nvSpPr>
          <p:cNvPr id="61" name="Text 53"/>
          <p:cNvSpPr/>
          <p:nvPr/>
        </p:nvSpPr>
        <p:spPr>
          <a:xfrm>
            <a:off x="6766560" y="5989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one login, every answer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THE PLATFORM TODAY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radio network, in one place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48640" y="160020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18745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822960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tools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334256" y="160020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08576" y="18745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608576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vendors, one view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119872" y="160020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94192" y="18745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2G–5G</a:t>
            </a:r>
            <a:endParaRPr lang="en-US" sz="4800" dirty="0"/>
          </a:p>
        </p:txBody>
      </p:sp>
      <p:sp>
        <p:nvSpPr>
          <p:cNvPr id="27" name="Text 25"/>
          <p:cNvSpPr/>
          <p:nvPr/>
        </p:nvSpPr>
        <p:spPr>
          <a:xfrm>
            <a:off x="8394192" y="29260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generation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48640" y="397764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251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80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334256" y="397764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08576" y="4251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19k+</a:t>
            </a:r>
            <a:endParaRPr lang="en-US" sz="4800" dirty="0"/>
          </a:p>
        </p:txBody>
      </p:sp>
      <p:sp>
        <p:nvSpPr>
          <p:cNvPr id="33" name="Text 31"/>
          <p:cNvSpPr/>
          <p:nvPr/>
        </p:nvSpPr>
        <p:spPr>
          <a:xfrm>
            <a:off x="4608576" y="5303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references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8119872" y="3977640"/>
            <a:ext cx="3520440" cy="2084832"/>
          </a:xfrm>
          <a:prstGeom prst="roundRect">
            <a:avLst>
              <a:gd name="adj" fmla="val 438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94192" y="42519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800" dirty="0"/>
          </a:p>
        </p:txBody>
      </p:sp>
      <p:sp>
        <p:nvSpPr>
          <p:cNvPr id="36" name="Text 34"/>
          <p:cNvSpPr/>
          <p:nvPr/>
        </p:nvSpPr>
        <p:spPr>
          <a:xfrm>
            <a:off x="8394192" y="5303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of truth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ADDED VALUE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KPI view: hours, down to minutes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864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560320" y="17830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5C3540"/>
          </a:solidFill>
          <a:ln/>
        </p:spPr>
      </p:sp>
      <p:sp>
        <p:nvSpPr>
          <p:cNvPr id="21" name="Text 19"/>
          <p:cNvSpPr/>
          <p:nvPr/>
        </p:nvSpPr>
        <p:spPr>
          <a:xfrm>
            <a:off x="27889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exports &amp; merging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60320" y="251460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38BDF8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0" y="2514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657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90472" y="3977640"/>
            <a:ext cx="768096" cy="768096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2496" y="4169664"/>
            <a:ext cx="384048" cy="38404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85800" y="49560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issues first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85800" y="5349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customers do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3361334" y="3657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03166" y="3977640"/>
            <a:ext cx="768096" cy="768096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190" y="4169664"/>
            <a:ext cx="384048" cy="38404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3498494" y="49560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→ action</a:t>
            </a:r>
            <a:endParaRPr lang="en-US" sz="1450" dirty="0"/>
          </a:p>
        </p:txBody>
      </p:sp>
      <p:sp>
        <p:nvSpPr>
          <p:cNvPr id="34" name="Text 30"/>
          <p:cNvSpPr/>
          <p:nvPr/>
        </p:nvSpPr>
        <p:spPr>
          <a:xfrm>
            <a:off x="3498494" y="5349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ready to apply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174029" y="3657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115861" y="3977640"/>
            <a:ext cx="768096" cy="768096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7885" y="4169664"/>
            <a:ext cx="384048" cy="384048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6311189" y="49560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license cost</a:t>
            </a:r>
            <a:endParaRPr lang="en-US" sz="1450" dirty="0"/>
          </a:p>
        </p:txBody>
      </p:sp>
      <p:sp>
        <p:nvSpPr>
          <p:cNvPr id="39" name="Text 34"/>
          <p:cNvSpPr/>
          <p:nvPr/>
        </p:nvSpPr>
        <p:spPr>
          <a:xfrm>
            <a:off x="6311189" y="5349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Zain IP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8986723" y="3657600"/>
            <a:ext cx="2651760" cy="2468880"/>
          </a:xfrm>
          <a:prstGeom prst="roundRect">
            <a:avLst>
              <a:gd name="adj" fmla="val 4444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928555" y="3977640"/>
            <a:ext cx="768096" cy="768096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0579" y="4169664"/>
            <a:ext cx="384048" cy="384048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9123883" y="495604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in days</a:t>
            </a:r>
            <a:endParaRPr lang="en-US" sz="1450" dirty="0"/>
          </a:p>
        </p:txBody>
      </p:sp>
      <p:sp>
        <p:nvSpPr>
          <p:cNvPr id="44" name="Text 38"/>
          <p:cNvSpPr/>
          <p:nvPr/>
        </p:nvSpPr>
        <p:spPr>
          <a:xfrm>
            <a:off x="9123883" y="5349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by our engineers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SENTIMENT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start their day with PrimeNet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280160" y="182880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8BC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question changed — from ‘where is the data?’ to ‘what do we do about it?’”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2651760" cy="2331720"/>
          </a:xfrm>
          <a:prstGeom prst="roundRect">
            <a:avLst>
              <a:gd name="adj" fmla="val 470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72184" y="3703320"/>
            <a:ext cx="804672" cy="804672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3352" y="3904488"/>
            <a:ext cx="402336" cy="402336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85800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habit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3361334" y="3383280"/>
            <a:ext cx="2651760" cy="2331720"/>
          </a:xfrm>
          <a:prstGeom prst="roundRect">
            <a:avLst>
              <a:gd name="adj" fmla="val 470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84878" y="3703320"/>
            <a:ext cx="804672" cy="804672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046" y="3904488"/>
            <a:ext cx="402336" cy="402336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3498494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trusted number</a:t>
            </a:r>
            <a:endParaRPr lang="en-US" sz="1450" dirty="0"/>
          </a:p>
        </p:txBody>
      </p:sp>
      <p:sp>
        <p:nvSpPr>
          <p:cNvPr id="28" name="Shape 24"/>
          <p:cNvSpPr/>
          <p:nvPr/>
        </p:nvSpPr>
        <p:spPr>
          <a:xfrm>
            <a:off x="6174029" y="3383280"/>
            <a:ext cx="2651760" cy="2331720"/>
          </a:xfrm>
          <a:prstGeom prst="roundRect">
            <a:avLst>
              <a:gd name="adj" fmla="val 470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097573" y="3703320"/>
            <a:ext cx="804672" cy="804672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741" y="3904488"/>
            <a:ext cx="402336" cy="402336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6311189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our engineers</a:t>
            </a:r>
            <a:endParaRPr lang="en-US" sz="1450" dirty="0"/>
          </a:p>
        </p:txBody>
      </p:sp>
      <p:sp>
        <p:nvSpPr>
          <p:cNvPr id="32" name="Shape 27"/>
          <p:cNvSpPr/>
          <p:nvPr/>
        </p:nvSpPr>
        <p:spPr>
          <a:xfrm>
            <a:off x="8986723" y="3383280"/>
            <a:ext cx="2651760" cy="2331720"/>
          </a:xfrm>
          <a:prstGeom prst="roundRect">
            <a:avLst>
              <a:gd name="adj" fmla="val 4706"/>
            </a:avLst>
          </a:prstGeom>
          <a:solidFill>
            <a:srgbClr val="182230"/>
          </a:solidFill>
          <a:ln w="12700">
            <a:solidFill>
              <a:srgbClr val="304258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9910267" y="3703320"/>
            <a:ext cx="804672" cy="804672"/>
          </a:xfrm>
          <a:prstGeom prst="ellipse">
            <a:avLst/>
          </a:prstGeom>
          <a:solidFill>
            <a:srgbClr val="223246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1435" y="3904488"/>
            <a:ext cx="402336" cy="402336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9123883" y="4709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by pull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THE FUTURE: ONE CONNECTED ZAIN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portal, plugged into network truth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6094476" y="2290572"/>
            <a:ext cx="9144" cy="1687068"/>
          </a:xfrm>
          <a:prstGeom prst="line">
            <a:avLst/>
          </a:prstGeom>
          <a:noFill/>
          <a:ln w="19050">
            <a:solidFill>
              <a:srgbClr val="30425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660136" y="1856232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FBBF2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4680" y="2090776"/>
            <a:ext cx="399593" cy="399593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951476" y="13944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portal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951476" y="16687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 flipV="1">
            <a:off x="6094476" y="3134106"/>
            <a:ext cx="2761729" cy="843534"/>
          </a:xfrm>
          <a:prstGeom prst="line">
            <a:avLst/>
          </a:prstGeom>
          <a:noFill/>
          <a:ln w="19050">
            <a:solidFill>
              <a:srgbClr val="304258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8421865" y="2699766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34D399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6409" y="2934310"/>
            <a:ext cx="399593" cy="399593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713205" y="223799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portal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7713205" y="251231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094476" y="3977640"/>
            <a:ext cx="2761729" cy="843534"/>
          </a:xfrm>
          <a:prstGeom prst="line">
            <a:avLst/>
          </a:prstGeom>
          <a:noFill/>
          <a:ln w="19050">
            <a:solidFill>
              <a:srgbClr val="304258"/>
            </a:solidFill>
            <a:prstDash val="dash"/>
          </a:ln>
        </p:spPr>
      </p:sp>
      <p:sp>
        <p:nvSpPr>
          <p:cNvPr id="30" name="Shape 26"/>
          <p:cNvSpPr/>
          <p:nvPr/>
        </p:nvSpPr>
        <p:spPr>
          <a:xfrm>
            <a:off x="8421865" y="4386834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F87171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6409" y="4621378"/>
            <a:ext cx="399593" cy="399593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713205" y="532409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care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7713205" y="559841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094476" y="3977640"/>
            <a:ext cx="9144" cy="1687068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660136" y="5230368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FBBF24"/>
            </a:solidFill>
            <a:prstDash val="solid"/>
          </a:ln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680" y="5464912"/>
            <a:ext cx="399593" cy="399593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951476" y="61676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BI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4951476" y="64419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 flipV="1">
            <a:off x="3332747" y="3977640"/>
            <a:ext cx="2761729" cy="843534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2898407" y="4386834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38BDF8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2951" y="4621378"/>
            <a:ext cx="399593" cy="399593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2189747" y="532409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NOC &amp; operations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2189747" y="559841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3332747" y="3134106"/>
            <a:ext cx="2761729" cy="843534"/>
          </a:xfrm>
          <a:prstGeom prst="line">
            <a:avLst/>
          </a:prstGeom>
          <a:noFill/>
          <a:ln w="19050">
            <a:solidFill>
              <a:srgbClr val="304258"/>
            </a:solidFill>
            <a:prstDash val="dash"/>
          </a:ln>
        </p:spPr>
      </p:sp>
      <p:sp>
        <p:nvSpPr>
          <p:cNvPr id="45" name="Shape 38"/>
          <p:cNvSpPr/>
          <p:nvPr/>
        </p:nvSpPr>
        <p:spPr>
          <a:xfrm>
            <a:off x="2898407" y="2699766"/>
            <a:ext cx="868680" cy="868680"/>
          </a:xfrm>
          <a:prstGeom prst="ellipse">
            <a:avLst/>
          </a:prstGeom>
          <a:solidFill>
            <a:srgbClr val="1B2736"/>
          </a:solidFill>
          <a:ln w="19050">
            <a:solidFill>
              <a:srgbClr val="8BC1FF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951" y="2934310"/>
            <a:ext cx="399593" cy="399593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2189747" y="223799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planning</a:t>
            </a:r>
            <a:endParaRPr lang="en-US" sz="1300" dirty="0"/>
          </a:p>
        </p:txBody>
      </p:sp>
      <p:sp>
        <p:nvSpPr>
          <p:cNvPr id="48" name="Text 40"/>
          <p:cNvSpPr/>
          <p:nvPr/>
        </p:nvSpPr>
        <p:spPr>
          <a:xfrm>
            <a:off x="2189747" y="251231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49" name="Shape 41"/>
          <p:cNvSpPr/>
          <p:nvPr/>
        </p:nvSpPr>
        <p:spPr>
          <a:xfrm>
            <a:off x="5225796" y="3108960"/>
            <a:ext cx="1737360" cy="1737360"/>
          </a:xfrm>
          <a:prstGeom prst="ellipse">
            <a:avLst/>
          </a:prstGeom>
          <a:solidFill>
            <a:srgbClr val="223246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5225796" y="310896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PrimeNet</a:t>
            </a:r>
            <a:endParaRPr lang="en-US" sz="16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A9B7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truth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10378440" y="256032"/>
            <a:ext cx="499262" cy="364846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77702" y="256032"/>
            <a:ext cx="576072" cy="24963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1204143" y="505663"/>
            <a:ext cx="249631" cy="49926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204143" y="832104"/>
            <a:ext cx="729691" cy="17282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53774" y="505663"/>
            <a:ext cx="480060" cy="326441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78440" y="620878"/>
            <a:ext cx="288036" cy="547268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04143" y="1004926"/>
            <a:ext cx="460858" cy="259232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665001" y="832104"/>
            <a:ext cx="268834" cy="432054"/>
          </a:xfrm>
          <a:prstGeom prst="line">
            <a:avLst/>
          </a:prstGeom>
          <a:noFill/>
          <a:ln w="9525">
            <a:solidFill>
              <a:srgbClr val="3042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4112" y="57655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33375" y="211704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409447" y="46133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59816" y="96059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889507" y="787776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622148" y="1123818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620673" y="1219830"/>
            <a:ext cx="88655" cy="88655"/>
          </a:xfrm>
          <a:prstGeom prst="ellipse">
            <a:avLst/>
          </a:prstGeom>
          <a:solidFill>
            <a:srgbClr val="38BDF8">
              <a:alpha val="55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THE ROAD AHEAD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team's tool, to Zain's nervous system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182230"/>
          </a:solidFill>
          <a:ln w="19050">
            <a:solidFill>
              <a:srgbClr val="30425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773168"/>
            <a:ext cx="457200" cy="457200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4878324"/>
            <a:ext cx="246888" cy="246888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25880" y="479145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49808" y="532180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 flipV="1">
            <a:off x="3136392" y="4114800"/>
            <a:ext cx="658368" cy="292608"/>
          </a:xfrm>
          <a:prstGeom prst="line">
            <a:avLst/>
          </a:prstGeom>
          <a:noFill/>
          <a:ln w="19050">
            <a:solidFill>
              <a:srgbClr val="38BDF8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3337560" y="397764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1B2736"/>
          </a:solidFill>
          <a:ln w="19050">
            <a:solidFill>
              <a:srgbClr val="27577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538728" y="4178808"/>
            <a:ext cx="457200" cy="457200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884" y="4283964"/>
            <a:ext cx="246888" cy="24688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114800" y="419709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3538728" y="47274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Cross-dept dashboards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 flipV="1">
            <a:off x="5925312" y="3520440"/>
            <a:ext cx="658368" cy="292608"/>
          </a:xfrm>
          <a:prstGeom prst="line">
            <a:avLst/>
          </a:prstGeom>
          <a:noFill/>
          <a:ln w="19050">
            <a:solidFill>
              <a:srgbClr val="38BDF8"/>
            </a:solidFill>
            <a:prstDash val="dash"/>
          </a:ln>
        </p:spPr>
      </p:sp>
      <p:sp>
        <p:nvSpPr>
          <p:cNvPr id="31" name="Shape 27"/>
          <p:cNvSpPr/>
          <p:nvPr/>
        </p:nvSpPr>
        <p:spPr>
          <a:xfrm>
            <a:off x="6126480" y="338328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223246"/>
          </a:solidFill>
          <a:ln w="19050">
            <a:solidFill>
              <a:srgbClr val="3A6B93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327648" y="3584448"/>
            <a:ext cx="457200" cy="457200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4" y="3689604"/>
            <a:ext cx="246888" cy="246888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903720" y="360273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1050" dirty="0"/>
          </a:p>
        </p:txBody>
      </p:sp>
      <p:sp>
        <p:nvSpPr>
          <p:cNvPr id="35" name="Text 30"/>
          <p:cNvSpPr/>
          <p:nvPr/>
        </p:nvSpPr>
        <p:spPr>
          <a:xfrm>
            <a:off x="6327648" y="413308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sales portals</a:t>
            </a:r>
            <a:endParaRPr lang="en-US" sz="1350" dirty="0"/>
          </a:p>
        </p:txBody>
      </p:sp>
      <p:sp>
        <p:nvSpPr>
          <p:cNvPr id="36" name="Shape 31"/>
          <p:cNvSpPr/>
          <p:nvPr/>
        </p:nvSpPr>
        <p:spPr>
          <a:xfrm flipV="1">
            <a:off x="8714232" y="2926080"/>
            <a:ext cx="658368" cy="292608"/>
          </a:xfrm>
          <a:prstGeom prst="line">
            <a:avLst/>
          </a:prstGeom>
          <a:noFill/>
          <a:ln w="19050">
            <a:solidFill>
              <a:srgbClr val="38BDF8"/>
            </a:solidFill>
            <a:prstDash val="dash"/>
          </a:ln>
        </p:spPr>
      </p:sp>
      <p:sp>
        <p:nvSpPr>
          <p:cNvPr id="37" name="Shape 32"/>
          <p:cNvSpPr/>
          <p:nvPr/>
        </p:nvSpPr>
        <p:spPr>
          <a:xfrm>
            <a:off x="8915400" y="2788920"/>
            <a:ext cx="2697480" cy="1417320"/>
          </a:xfrm>
          <a:prstGeom prst="roundRect">
            <a:avLst>
              <a:gd name="adj" fmla="val 6452"/>
            </a:avLst>
          </a:prstGeom>
          <a:solidFill>
            <a:srgbClr val="27405C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9116568" y="2990088"/>
            <a:ext cx="457200" cy="457200"/>
          </a:xfrm>
          <a:prstGeom prst="ellipse">
            <a:avLst/>
          </a:prstGeom>
          <a:solidFill>
            <a:srgbClr val="0F1722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1724" y="3095244"/>
            <a:ext cx="246888" cy="24688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9692640" y="300837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</a:t>
            </a:r>
            <a:endParaRPr lang="en-US" sz="1050" dirty="0"/>
          </a:p>
        </p:txBody>
      </p:sp>
      <p:sp>
        <p:nvSpPr>
          <p:cNvPr id="41" name="Text 35"/>
          <p:cNvSpPr/>
          <p:nvPr/>
        </p:nvSpPr>
        <p:spPr>
          <a:xfrm>
            <a:off x="9116568" y="353872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closed-loop network</a:t>
            </a:r>
            <a:endParaRPr lang="en-US" sz="1350" dirty="0"/>
          </a:p>
        </p:txBody>
      </p:sp>
      <p:sp>
        <p:nvSpPr>
          <p:cNvPr id="42" name="Shape 36"/>
          <p:cNvSpPr/>
          <p:nvPr/>
        </p:nvSpPr>
        <p:spPr>
          <a:xfrm>
            <a:off x="548640" y="6263640"/>
            <a:ext cx="11091672" cy="9144"/>
          </a:xfrm>
          <a:prstGeom prst="line">
            <a:avLst/>
          </a:prstGeom>
          <a:noFill/>
          <a:ln w="12700">
            <a:solidFill>
              <a:srgbClr val="30425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Zain, for Zain — and just getting started.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PrimeNet — CEO Briefing</dc:title>
  <dc:subject>PptxGenJS Presentation</dc:subject>
  <dc:creator>Zain — Radio Network Optimization</dc:creator>
  <cp:lastModifiedBy>Zain — Radio Network Optimization</cp:lastModifiedBy>
  <cp:revision>1</cp:revision>
  <dcterms:created xsi:type="dcterms:W3CDTF">2026-08-05T13:56:03Z</dcterms:created>
  <dcterms:modified xsi:type="dcterms:W3CDTF">2026-08-05T13:56:03Z</dcterms:modified>
</cp:coreProperties>
</file>