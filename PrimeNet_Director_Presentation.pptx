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Pitch: "Right now, our telecom engineering department is drowning in vendor-specific silos. Engineers waste up to 40% of their day logging into separate, incompatible platforms just to manage multi-vendor, multi-RAT networks. This fragmentation delays network optimization and spikes operational costs." (Source: FNT Software — The Challenge of Fragmented Systems.) Directors hate operational silos and wasted engineering hours — establish the massive inefficiency before showing the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Pitch: "We built PrimeNet. It is a single, web-based interface that consolidates multi-vendor and multi-RAT engineering functionalities into one dashboard. It strips away technical complexity, allowing engineers to monitor, configure, and optimize everything in one place, regardless of the hardware provider." Walk the diagram left to right: raw multi-vendor data in, PrimeNet engine in the middle, one unified interface out. Emphasize scalability — the engine is vendor- and RAT-agnostic by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Pitch: "By deploying PrimeNet internally, we will instantly cut engineering cycle times and reduce vendor software licensing fees. But the real play is commercial: we are architecting PrimeNet to scale into a standalone, integrated system that we can license to global telecom operators, turning a cost center into a major revenue stream. To hit Phase 1, I need your green light to launch a 30-day pilot with [X team]." Directors invest when they see immediate internal ROI coupled with a massive external market upside — land the ask explicitly. Replace [X team] with the actual pilot team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384048"/>
            <a:ext cx="8229600" cy="320040"/>
          </a:xfrm>
          <a:prstGeom prst="rect">
            <a:avLst/>
          </a:prstGeom>
          <a:noFill/>
          <a:ln/>
        </p:spPr>
        <p:txBody>
          <a:bodyPr wrap="square" lIns="0" tIns="0" rIns="0" bIns="0" rtlCol="0" anchor="ctr"/>
          <a:lstStyle/>
          <a:p>
            <a:pPr indent="0" marL="0">
              <a:buNone/>
            </a:pPr>
            <a:r>
              <a:rPr lang="en-US" sz="1300" b="1" spc="400" kern="0" dirty="0">
                <a:solidFill>
                  <a:srgbClr val="02C39A"/>
                </a:solidFill>
                <a:latin typeface="Calibri" pitchFamily="34" charset="0"/>
                <a:ea typeface="Calibri" pitchFamily="34" charset="-122"/>
                <a:cs typeface="Calibri" pitchFamily="34" charset="-120"/>
              </a:rPr>
              <a:t>THE FRICTION — THE COST OF FRAGMENTATION</a:t>
            </a:r>
            <a:endParaRPr lang="en-US" sz="13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The Fragmented Telecom Workflow Liability</a:t>
            </a:r>
            <a:endParaRPr lang="en-US" sz="3400" dirty="0"/>
          </a:p>
        </p:txBody>
      </p:sp>
      <p:sp>
        <p:nvSpPr>
          <p:cNvPr id="4" name="Shape 2"/>
          <p:cNvSpPr/>
          <p:nvPr/>
        </p:nvSpPr>
        <p:spPr>
          <a:xfrm>
            <a:off x="1440180" y="2423160"/>
            <a:ext cx="0" cy="1280160"/>
          </a:xfrm>
          <a:prstGeom prst="line">
            <a:avLst/>
          </a:prstGeom>
          <a:noFill/>
          <a:ln w="12700">
            <a:solidFill>
              <a:srgbClr val="5A66A0"/>
            </a:solidFill>
            <a:prstDash val="solid"/>
          </a:ln>
        </p:spPr>
      </p:sp>
      <p:sp>
        <p:nvSpPr>
          <p:cNvPr id="5" name="Shape 3"/>
          <p:cNvSpPr/>
          <p:nvPr/>
        </p:nvSpPr>
        <p:spPr>
          <a:xfrm>
            <a:off x="1440180" y="2423160"/>
            <a:ext cx="1938528" cy="1280160"/>
          </a:xfrm>
          <a:prstGeom prst="line">
            <a:avLst/>
          </a:prstGeom>
          <a:noFill/>
          <a:ln w="12700">
            <a:solidFill>
              <a:srgbClr val="5A66A0"/>
            </a:solidFill>
            <a:prstDash val="solid"/>
          </a:ln>
        </p:spPr>
      </p:sp>
      <p:sp>
        <p:nvSpPr>
          <p:cNvPr id="6" name="Shape 4"/>
          <p:cNvSpPr/>
          <p:nvPr/>
        </p:nvSpPr>
        <p:spPr>
          <a:xfrm>
            <a:off x="1440180" y="2423160"/>
            <a:ext cx="3877056" cy="1280160"/>
          </a:xfrm>
          <a:prstGeom prst="line">
            <a:avLst/>
          </a:prstGeom>
          <a:noFill/>
          <a:ln w="12700">
            <a:solidFill>
              <a:srgbClr val="5A66A0"/>
            </a:solidFill>
            <a:prstDash val="solid"/>
          </a:ln>
        </p:spPr>
      </p:sp>
      <p:sp>
        <p:nvSpPr>
          <p:cNvPr id="7" name="Shape 5"/>
          <p:cNvSpPr/>
          <p:nvPr/>
        </p:nvSpPr>
        <p:spPr>
          <a:xfrm flipV="1">
            <a:off x="1440180" y="2423160"/>
            <a:ext cx="1938528" cy="1280160"/>
          </a:xfrm>
          <a:prstGeom prst="line">
            <a:avLst/>
          </a:prstGeom>
          <a:noFill/>
          <a:ln w="12700">
            <a:solidFill>
              <a:srgbClr val="5A66A0"/>
            </a:solidFill>
            <a:prstDash val="solid"/>
          </a:ln>
        </p:spPr>
      </p:sp>
      <p:sp>
        <p:nvSpPr>
          <p:cNvPr id="8" name="Shape 6"/>
          <p:cNvSpPr/>
          <p:nvPr/>
        </p:nvSpPr>
        <p:spPr>
          <a:xfrm>
            <a:off x="3378708" y="2423160"/>
            <a:ext cx="0" cy="1280160"/>
          </a:xfrm>
          <a:prstGeom prst="line">
            <a:avLst/>
          </a:prstGeom>
          <a:noFill/>
          <a:ln w="12700">
            <a:solidFill>
              <a:srgbClr val="5A66A0"/>
            </a:solidFill>
            <a:prstDash val="solid"/>
          </a:ln>
        </p:spPr>
      </p:sp>
      <p:sp>
        <p:nvSpPr>
          <p:cNvPr id="9" name="Shape 7"/>
          <p:cNvSpPr/>
          <p:nvPr/>
        </p:nvSpPr>
        <p:spPr>
          <a:xfrm>
            <a:off x="3378708" y="2423160"/>
            <a:ext cx="1938528" cy="1280160"/>
          </a:xfrm>
          <a:prstGeom prst="line">
            <a:avLst/>
          </a:prstGeom>
          <a:noFill/>
          <a:ln w="12700">
            <a:solidFill>
              <a:srgbClr val="5A66A0"/>
            </a:solidFill>
            <a:prstDash val="solid"/>
          </a:ln>
        </p:spPr>
      </p:sp>
      <p:sp>
        <p:nvSpPr>
          <p:cNvPr id="10" name="Shape 8"/>
          <p:cNvSpPr/>
          <p:nvPr/>
        </p:nvSpPr>
        <p:spPr>
          <a:xfrm flipV="1">
            <a:off x="1440180" y="2423160"/>
            <a:ext cx="3877056" cy="1280160"/>
          </a:xfrm>
          <a:prstGeom prst="line">
            <a:avLst/>
          </a:prstGeom>
          <a:noFill/>
          <a:ln w="12700">
            <a:solidFill>
              <a:srgbClr val="5A66A0"/>
            </a:solidFill>
            <a:prstDash val="solid"/>
          </a:ln>
        </p:spPr>
      </p:sp>
      <p:sp>
        <p:nvSpPr>
          <p:cNvPr id="11" name="Shape 9"/>
          <p:cNvSpPr/>
          <p:nvPr/>
        </p:nvSpPr>
        <p:spPr>
          <a:xfrm flipV="1">
            <a:off x="3378708" y="2423160"/>
            <a:ext cx="1938528" cy="1280160"/>
          </a:xfrm>
          <a:prstGeom prst="line">
            <a:avLst/>
          </a:prstGeom>
          <a:noFill/>
          <a:ln w="12700">
            <a:solidFill>
              <a:srgbClr val="5A66A0"/>
            </a:solidFill>
            <a:prstDash val="solid"/>
          </a:ln>
        </p:spPr>
      </p:sp>
      <p:sp>
        <p:nvSpPr>
          <p:cNvPr id="12" name="Shape 10"/>
          <p:cNvSpPr/>
          <p:nvPr/>
        </p:nvSpPr>
        <p:spPr>
          <a:xfrm>
            <a:off x="5317236" y="2423160"/>
            <a:ext cx="0" cy="1280160"/>
          </a:xfrm>
          <a:prstGeom prst="line">
            <a:avLst/>
          </a:prstGeom>
          <a:noFill/>
          <a:ln w="12700">
            <a:solidFill>
              <a:srgbClr val="5A66A0"/>
            </a:solidFill>
            <a:prstDash val="solid"/>
          </a:ln>
        </p:spPr>
      </p:sp>
      <p:sp>
        <p:nvSpPr>
          <p:cNvPr id="13" name="Shape 11"/>
          <p:cNvSpPr/>
          <p:nvPr/>
        </p:nvSpPr>
        <p:spPr>
          <a:xfrm>
            <a:off x="1440180" y="4251960"/>
            <a:ext cx="1938528" cy="822960"/>
          </a:xfrm>
          <a:prstGeom prst="line">
            <a:avLst/>
          </a:prstGeom>
          <a:noFill/>
          <a:ln w="19050">
            <a:solidFill>
              <a:srgbClr val="F96167"/>
            </a:solidFill>
            <a:prstDash val="solid"/>
          </a:ln>
        </p:spPr>
      </p:sp>
      <p:sp>
        <p:nvSpPr>
          <p:cNvPr id="14" name="Shape 12"/>
          <p:cNvSpPr/>
          <p:nvPr/>
        </p:nvSpPr>
        <p:spPr>
          <a:xfrm>
            <a:off x="3378708" y="4251960"/>
            <a:ext cx="0" cy="822960"/>
          </a:xfrm>
          <a:prstGeom prst="line">
            <a:avLst/>
          </a:prstGeom>
          <a:noFill/>
          <a:ln w="19050">
            <a:solidFill>
              <a:srgbClr val="F96167"/>
            </a:solidFill>
            <a:prstDash val="solid"/>
          </a:ln>
        </p:spPr>
      </p:sp>
      <p:sp>
        <p:nvSpPr>
          <p:cNvPr id="15" name="Shape 13"/>
          <p:cNvSpPr/>
          <p:nvPr/>
        </p:nvSpPr>
        <p:spPr>
          <a:xfrm flipV="1">
            <a:off x="3378708" y="4251960"/>
            <a:ext cx="1938528" cy="822960"/>
          </a:xfrm>
          <a:prstGeom prst="line">
            <a:avLst/>
          </a:prstGeom>
          <a:noFill/>
          <a:ln w="19050">
            <a:solidFill>
              <a:srgbClr val="F96167"/>
            </a:solidFill>
            <a:prstDash val="solid"/>
          </a:ln>
        </p:spPr>
      </p:sp>
      <p:sp>
        <p:nvSpPr>
          <p:cNvPr id="16" name="Shape 14"/>
          <p:cNvSpPr/>
          <p:nvPr/>
        </p:nvSpPr>
        <p:spPr>
          <a:xfrm>
            <a:off x="548640" y="1874520"/>
            <a:ext cx="1783080" cy="548640"/>
          </a:xfrm>
          <a:prstGeom prst="roundRect">
            <a:avLst>
              <a:gd name="adj" fmla="val 11667"/>
            </a:avLst>
          </a:prstGeom>
          <a:solidFill>
            <a:srgbClr val="2A3575"/>
          </a:solidFill>
          <a:ln w="9525">
            <a:solidFill>
              <a:srgbClr val="5A66A0"/>
            </a:solidFill>
            <a:prstDash val="solid"/>
          </a:ln>
        </p:spPr>
      </p:sp>
      <p:sp>
        <p:nvSpPr>
          <p:cNvPr id="17" name="Text 15"/>
          <p:cNvSpPr/>
          <p:nvPr/>
        </p:nvSpPr>
        <p:spPr>
          <a:xfrm>
            <a:off x="548640" y="1874520"/>
            <a:ext cx="1783080" cy="54864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Ericsson OSS</a:t>
            </a:r>
            <a:endParaRPr lang="en-US" sz="1250" dirty="0"/>
          </a:p>
        </p:txBody>
      </p:sp>
      <p:sp>
        <p:nvSpPr>
          <p:cNvPr id="18" name="Shape 16"/>
          <p:cNvSpPr/>
          <p:nvPr/>
        </p:nvSpPr>
        <p:spPr>
          <a:xfrm>
            <a:off x="2487168" y="1874520"/>
            <a:ext cx="1783080" cy="548640"/>
          </a:xfrm>
          <a:prstGeom prst="roundRect">
            <a:avLst>
              <a:gd name="adj" fmla="val 11667"/>
            </a:avLst>
          </a:prstGeom>
          <a:solidFill>
            <a:srgbClr val="2A3575"/>
          </a:solidFill>
          <a:ln w="9525">
            <a:solidFill>
              <a:srgbClr val="5A66A0"/>
            </a:solidFill>
            <a:prstDash val="solid"/>
          </a:ln>
        </p:spPr>
      </p:sp>
      <p:sp>
        <p:nvSpPr>
          <p:cNvPr id="19" name="Text 17"/>
          <p:cNvSpPr/>
          <p:nvPr/>
        </p:nvSpPr>
        <p:spPr>
          <a:xfrm>
            <a:off x="2487168" y="1874520"/>
            <a:ext cx="1783080" cy="54864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Huawei U2020</a:t>
            </a:r>
            <a:endParaRPr lang="en-US" sz="1250" dirty="0"/>
          </a:p>
        </p:txBody>
      </p:sp>
      <p:sp>
        <p:nvSpPr>
          <p:cNvPr id="20" name="Shape 18"/>
          <p:cNvSpPr/>
          <p:nvPr/>
        </p:nvSpPr>
        <p:spPr>
          <a:xfrm>
            <a:off x="4425696" y="1874520"/>
            <a:ext cx="1783080" cy="548640"/>
          </a:xfrm>
          <a:prstGeom prst="roundRect">
            <a:avLst>
              <a:gd name="adj" fmla="val 11667"/>
            </a:avLst>
          </a:prstGeom>
          <a:solidFill>
            <a:srgbClr val="2A3575"/>
          </a:solidFill>
          <a:ln w="9525">
            <a:solidFill>
              <a:srgbClr val="5A66A0"/>
            </a:solidFill>
            <a:prstDash val="solid"/>
          </a:ln>
        </p:spPr>
      </p:sp>
      <p:sp>
        <p:nvSpPr>
          <p:cNvPr id="21" name="Text 19"/>
          <p:cNvSpPr/>
          <p:nvPr/>
        </p:nvSpPr>
        <p:spPr>
          <a:xfrm>
            <a:off x="4425696" y="1874520"/>
            <a:ext cx="1783080" cy="54864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Nokia NetAct</a:t>
            </a:r>
            <a:endParaRPr lang="en-US" sz="1250" dirty="0"/>
          </a:p>
        </p:txBody>
      </p:sp>
      <p:sp>
        <p:nvSpPr>
          <p:cNvPr id="22" name="Text 20"/>
          <p:cNvSpPr/>
          <p:nvPr/>
        </p:nvSpPr>
        <p:spPr>
          <a:xfrm>
            <a:off x="548640" y="2880360"/>
            <a:ext cx="5660136" cy="274320"/>
          </a:xfrm>
          <a:prstGeom prst="rect">
            <a:avLst/>
          </a:prstGeom>
          <a:noFill/>
          <a:ln/>
        </p:spPr>
        <p:txBody>
          <a:bodyPr wrap="square" lIns="0" tIns="0" rIns="0" bIns="0" rtlCol="0" anchor="ctr"/>
          <a:lstStyle/>
          <a:p>
            <a:pPr algn="ctr" indent="0" marL="0">
              <a:buNone/>
            </a:pPr>
            <a:r>
              <a:rPr lang="en-US" sz="1050" i="1" dirty="0">
                <a:solidFill>
                  <a:srgbClr val="8A96C8"/>
                </a:solidFill>
                <a:latin typeface="Calibri" pitchFamily="34" charset="0"/>
                <a:ea typeface="Calibri" pitchFamily="34" charset="-122"/>
                <a:cs typeface="Calibri" pitchFamily="34" charset="-120"/>
              </a:rPr>
              <a:t>separate logins · separate formats · separate data</a:t>
            </a:r>
            <a:endParaRPr lang="en-US" sz="1050" dirty="0"/>
          </a:p>
        </p:txBody>
      </p:sp>
      <p:sp>
        <p:nvSpPr>
          <p:cNvPr id="23" name="Shape 21"/>
          <p:cNvSpPr/>
          <p:nvPr/>
        </p:nvSpPr>
        <p:spPr>
          <a:xfrm>
            <a:off x="548640" y="3703320"/>
            <a:ext cx="1783080" cy="548640"/>
          </a:xfrm>
          <a:prstGeom prst="roundRect">
            <a:avLst>
              <a:gd name="adj" fmla="val 11667"/>
            </a:avLst>
          </a:prstGeom>
          <a:solidFill>
            <a:srgbClr val="2A3575"/>
          </a:solidFill>
          <a:ln w="9525">
            <a:solidFill>
              <a:srgbClr val="5A66A0"/>
            </a:solidFill>
            <a:prstDash val="solid"/>
          </a:ln>
        </p:spPr>
      </p:sp>
      <p:sp>
        <p:nvSpPr>
          <p:cNvPr id="24" name="Text 22"/>
          <p:cNvSpPr/>
          <p:nvPr/>
        </p:nvSpPr>
        <p:spPr>
          <a:xfrm>
            <a:off x="548640" y="3703320"/>
            <a:ext cx="1783080" cy="548640"/>
          </a:xfrm>
          <a:prstGeom prst="rect">
            <a:avLst/>
          </a:prstGeom>
          <a:noFill/>
          <a:ln/>
        </p:spPr>
        <p:txBody>
          <a:bodyPr wrap="square" lIns="0" tIns="0" rIns="0" bIns="0" rtlCol="0" anchor="ctr"/>
          <a:lstStyle/>
          <a:p>
            <a:pPr algn="ctr" indent="0" marL="0">
              <a:buNone/>
            </a:pPr>
            <a:r>
              <a:rPr lang="en-US" sz="1250" dirty="0">
                <a:solidFill>
                  <a:srgbClr val="CADCFC"/>
                </a:solidFill>
                <a:latin typeface="Calibri" pitchFamily="34" charset="0"/>
                <a:ea typeface="Calibri" pitchFamily="34" charset="-122"/>
                <a:cs typeface="Calibri" pitchFamily="34" charset="-120"/>
              </a:rPr>
              <a:t>Radio team</a:t>
            </a:r>
            <a:endParaRPr lang="en-US" sz="1250" dirty="0"/>
          </a:p>
        </p:txBody>
      </p:sp>
      <p:sp>
        <p:nvSpPr>
          <p:cNvPr id="25" name="Shape 23"/>
          <p:cNvSpPr/>
          <p:nvPr/>
        </p:nvSpPr>
        <p:spPr>
          <a:xfrm>
            <a:off x="2487168" y="3703320"/>
            <a:ext cx="1783080" cy="548640"/>
          </a:xfrm>
          <a:prstGeom prst="roundRect">
            <a:avLst>
              <a:gd name="adj" fmla="val 11667"/>
            </a:avLst>
          </a:prstGeom>
          <a:solidFill>
            <a:srgbClr val="2A3575"/>
          </a:solidFill>
          <a:ln w="9525">
            <a:solidFill>
              <a:srgbClr val="5A66A0"/>
            </a:solidFill>
            <a:prstDash val="solid"/>
          </a:ln>
        </p:spPr>
      </p:sp>
      <p:sp>
        <p:nvSpPr>
          <p:cNvPr id="26" name="Text 24"/>
          <p:cNvSpPr/>
          <p:nvPr/>
        </p:nvSpPr>
        <p:spPr>
          <a:xfrm>
            <a:off x="2487168" y="3703320"/>
            <a:ext cx="1783080" cy="548640"/>
          </a:xfrm>
          <a:prstGeom prst="rect">
            <a:avLst/>
          </a:prstGeom>
          <a:noFill/>
          <a:ln/>
        </p:spPr>
        <p:txBody>
          <a:bodyPr wrap="square" lIns="0" tIns="0" rIns="0" bIns="0" rtlCol="0" anchor="ctr"/>
          <a:lstStyle/>
          <a:p>
            <a:pPr algn="ctr" indent="0" marL="0">
              <a:buNone/>
            </a:pPr>
            <a:r>
              <a:rPr lang="en-US" sz="1250" dirty="0">
                <a:solidFill>
                  <a:srgbClr val="CADCFC"/>
                </a:solidFill>
                <a:latin typeface="Calibri" pitchFamily="34" charset="0"/>
                <a:ea typeface="Calibri" pitchFamily="34" charset="-122"/>
                <a:cs typeface="Calibri" pitchFamily="34" charset="-120"/>
              </a:rPr>
              <a:t>Optimization team</a:t>
            </a:r>
            <a:endParaRPr lang="en-US" sz="1250" dirty="0"/>
          </a:p>
        </p:txBody>
      </p:sp>
      <p:sp>
        <p:nvSpPr>
          <p:cNvPr id="27" name="Shape 25"/>
          <p:cNvSpPr/>
          <p:nvPr/>
        </p:nvSpPr>
        <p:spPr>
          <a:xfrm>
            <a:off x="4425696" y="3703320"/>
            <a:ext cx="1783080" cy="548640"/>
          </a:xfrm>
          <a:prstGeom prst="roundRect">
            <a:avLst>
              <a:gd name="adj" fmla="val 11667"/>
            </a:avLst>
          </a:prstGeom>
          <a:solidFill>
            <a:srgbClr val="2A3575"/>
          </a:solidFill>
          <a:ln w="9525">
            <a:solidFill>
              <a:srgbClr val="5A66A0"/>
            </a:solidFill>
            <a:prstDash val="solid"/>
          </a:ln>
        </p:spPr>
      </p:sp>
      <p:sp>
        <p:nvSpPr>
          <p:cNvPr id="28" name="Text 26"/>
          <p:cNvSpPr/>
          <p:nvPr/>
        </p:nvSpPr>
        <p:spPr>
          <a:xfrm>
            <a:off x="4425696" y="3703320"/>
            <a:ext cx="1783080" cy="548640"/>
          </a:xfrm>
          <a:prstGeom prst="rect">
            <a:avLst/>
          </a:prstGeom>
          <a:noFill/>
          <a:ln/>
        </p:spPr>
        <p:txBody>
          <a:bodyPr wrap="square" lIns="0" tIns="0" rIns="0" bIns="0" rtlCol="0" anchor="ctr"/>
          <a:lstStyle/>
          <a:p>
            <a:pPr algn="ctr" indent="0" marL="0">
              <a:buNone/>
            </a:pPr>
            <a:r>
              <a:rPr lang="en-US" sz="1250" dirty="0">
                <a:solidFill>
                  <a:srgbClr val="CADCFC"/>
                </a:solidFill>
                <a:latin typeface="Calibri" pitchFamily="34" charset="0"/>
                <a:ea typeface="Calibri" pitchFamily="34" charset="-122"/>
                <a:cs typeface="Calibri" pitchFamily="34" charset="-120"/>
              </a:rPr>
              <a:t>NOC team</a:t>
            </a:r>
            <a:endParaRPr lang="en-US" sz="1250" dirty="0"/>
          </a:p>
        </p:txBody>
      </p:sp>
      <p:sp>
        <p:nvSpPr>
          <p:cNvPr id="29" name="Shape 27"/>
          <p:cNvSpPr/>
          <p:nvPr/>
        </p:nvSpPr>
        <p:spPr>
          <a:xfrm>
            <a:off x="2487168" y="5074920"/>
            <a:ext cx="1783080" cy="548640"/>
          </a:xfrm>
          <a:prstGeom prst="roundRect">
            <a:avLst>
              <a:gd name="adj" fmla="val 11667"/>
            </a:avLst>
          </a:prstGeom>
          <a:solidFill>
            <a:srgbClr val="F96167"/>
          </a:solidFill>
          <a:ln/>
        </p:spPr>
      </p:sp>
      <p:sp>
        <p:nvSpPr>
          <p:cNvPr id="30" name="Text 28"/>
          <p:cNvSpPr/>
          <p:nvPr/>
        </p:nvSpPr>
        <p:spPr>
          <a:xfrm>
            <a:off x="2487168" y="5074920"/>
            <a:ext cx="1783080" cy="548640"/>
          </a:xfrm>
          <a:prstGeom prst="rect">
            <a:avLst/>
          </a:prstGeom>
          <a:noFill/>
          <a:ln/>
        </p:spPr>
        <p:txBody>
          <a:bodyPr wrap="square" lIns="0" tIns="0" rIns="0" bIns="0" rtlCol="0" anchor="ctr"/>
          <a:lstStyle/>
          <a:p>
            <a:pPr algn="ctr" indent="0" marL="0">
              <a:buNone/>
            </a:pPr>
            <a:r>
              <a:rPr lang="en-US" sz="1300" b="1" spc="200" kern="0" dirty="0">
                <a:solidFill>
                  <a:srgbClr val="1E2761"/>
                </a:solidFill>
                <a:latin typeface="Calibri" pitchFamily="34" charset="0"/>
                <a:ea typeface="Calibri" pitchFamily="34" charset="-122"/>
                <a:cs typeface="Calibri" pitchFamily="34" charset="-120"/>
              </a:rPr>
              <a:t>BOTTLENECK</a:t>
            </a:r>
            <a:endParaRPr lang="en-US" sz="1300" dirty="0"/>
          </a:p>
        </p:txBody>
      </p:sp>
      <p:sp>
        <p:nvSpPr>
          <p:cNvPr id="31" name="Text 29"/>
          <p:cNvSpPr/>
          <p:nvPr/>
        </p:nvSpPr>
        <p:spPr>
          <a:xfrm>
            <a:off x="548640" y="5733288"/>
            <a:ext cx="5660136" cy="274320"/>
          </a:xfrm>
          <a:prstGeom prst="rect">
            <a:avLst/>
          </a:prstGeom>
          <a:noFill/>
          <a:ln/>
        </p:spPr>
        <p:txBody>
          <a:bodyPr wrap="square" lIns="0" tIns="0" rIns="0" bIns="0" rtlCol="0" anchor="ctr"/>
          <a:lstStyle/>
          <a:p>
            <a:pPr algn="ctr" indent="0" marL="0">
              <a:buNone/>
            </a:pPr>
            <a:r>
              <a:rPr lang="en-US" sz="1100" i="1" dirty="0">
                <a:solidFill>
                  <a:srgbClr val="F96167"/>
                </a:solidFill>
                <a:latin typeface="Calibri" pitchFamily="34" charset="0"/>
                <a:ea typeface="Calibri" pitchFamily="34" charset="-122"/>
                <a:cs typeface="Calibri" pitchFamily="34" charset="-120"/>
              </a:rPr>
              <a:t>delayed optimization · duplicated effort · rising OpEx</a:t>
            </a:r>
            <a:endParaRPr lang="en-US" sz="1100" dirty="0"/>
          </a:p>
        </p:txBody>
      </p:sp>
      <p:sp>
        <p:nvSpPr>
          <p:cNvPr id="32" name="Text 30"/>
          <p:cNvSpPr/>
          <p:nvPr/>
        </p:nvSpPr>
        <p:spPr>
          <a:xfrm>
            <a:off x="6903720" y="1783080"/>
            <a:ext cx="4736592" cy="868680"/>
          </a:xfrm>
          <a:prstGeom prst="rect">
            <a:avLst/>
          </a:prstGeom>
          <a:noFill/>
          <a:ln/>
        </p:spPr>
        <p:txBody>
          <a:bodyPr wrap="square" lIns="0" tIns="0" rIns="0" bIns="0" rtlCol="0" anchor="ctr"/>
          <a:lstStyle/>
          <a:p>
            <a:pPr indent="0" marL="0">
              <a:buNone/>
            </a:pPr>
            <a:r>
              <a:rPr lang="en-US" sz="6000" b="1" dirty="0">
                <a:solidFill>
                  <a:srgbClr val="02C39A"/>
                </a:solidFill>
                <a:latin typeface="Calibri" pitchFamily="34" charset="0"/>
                <a:ea typeface="Calibri" pitchFamily="34" charset="-122"/>
                <a:cs typeface="Calibri" pitchFamily="34" charset="-120"/>
              </a:rPr>
              <a:t>40%</a:t>
            </a:r>
            <a:endParaRPr lang="en-US" sz="6000" dirty="0"/>
          </a:p>
        </p:txBody>
      </p:sp>
      <p:sp>
        <p:nvSpPr>
          <p:cNvPr id="33" name="Text 31"/>
          <p:cNvSpPr/>
          <p:nvPr/>
        </p:nvSpPr>
        <p:spPr>
          <a:xfrm>
            <a:off x="6903720" y="2697480"/>
            <a:ext cx="4736592" cy="685800"/>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of an engineer's day is spent logging into separate, incompatible vendor platforms.</a:t>
            </a:r>
            <a:endParaRPr lang="en-US" sz="1350" dirty="0"/>
          </a:p>
        </p:txBody>
      </p:sp>
      <p:sp>
        <p:nvSpPr>
          <p:cNvPr id="34" name="Text 32"/>
          <p:cNvSpPr/>
          <p:nvPr/>
        </p:nvSpPr>
        <p:spPr>
          <a:xfrm>
            <a:off x="6903720" y="3611880"/>
            <a:ext cx="4736592" cy="1920240"/>
          </a:xfrm>
          <a:prstGeom prst="rect">
            <a:avLst/>
          </a:prstGeom>
          <a:noFill/>
          <a:ln/>
        </p:spPr>
        <p:txBody>
          <a:bodyPr wrap="square" lIns="0" tIns="0" rIns="0" bIns="0" rtlCol="0" anchor="t"/>
          <a:lstStyle/>
          <a:p>
            <a:pPr indent="0" marL="0">
              <a:buNone/>
            </a:pPr>
            <a:r>
              <a:rPr lang="en-US" sz="1300" dirty="0">
                <a:solidFill>
                  <a:srgbClr val="CADCFC"/>
                </a:solidFill>
                <a:latin typeface="Calibri" pitchFamily="34" charset="0"/>
                <a:ea typeface="Calibri" pitchFamily="34" charset="-122"/>
                <a:cs typeface="Calibri" pitchFamily="34" charset="-120"/>
              </a:rPr>
              <a:t>Our telecom engineering department is drowning in vendor-specific silos. Managing a multi-vendor, multi-RAT network today means separate tools, separate data and separate workflows for every vendor and every technology — fragmentation that delays network optimization and spikes operational costs.</a:t>
            </a:r>
            <a:endParaRPr lang="en-US" sz="1300" dirty="0"/>
          </a:p>
        </p:txBody>
      </p:sp>
      <p:sp>
        <p:nvSpPr>
          <p:cNvPr id="35" name="Text 33"/>
          <p:cNvSpPr/>
          <p:nvPr/>
        </p:nvSpPr>
        <p:spPr>
          <a:xfrm>
            <a:off x="548640" y="6355080"/>
            <a:ext cx="11064240" cy="274320"/>
          </a:xfrm>
          <a:prstGeom prst="rect">
            <a:avLst/>
          </a:prstGeom>
          <a:noFill/>
          <a:ln/>
        </p:spPr>
        <p:txBody>
          <a:bodyPr wrap="square" lIns="0" tIns="0" rIns="0" bIns="0" rtlCol="0" anchor="ctr"/>
          <a:lstStyle/>
          <a:p>
            <a:pPr indent="0" marL="0">
              <a:buNone/>
            </a:pPr>
            <a:r>
              <a:rPr lang="en-US" sz="900" dirty="0">
                <a:solidFill>
                  <a:srgbClr val="8A96C8"/>
                </a:solidFill>
                <a:latin typeface="Calibri" pitchFamily="34" charset="0"/>
                <a:ea typeface="Calibri" pitchFamily="34" charset="-122"/>
                <a:cs typeface="Calibri" pitchFamily="34" charset="-120"/>
              </a:rPr>
              <a:t>Source: FNT Software — “The Challenge of Fragmented Systems: A Roadblock to Telecom Agility”</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229600" cy="320040"/>
          </a:xfrm>
          <a:prstGeom prst="rect">
            <a:avLst/>
          </a:prstGeom>
          <a:noFill/>
          <a:ln/>
        </p:spPr>
        <p:txBody>
          <a:bodyPr wrap="square" lIns="0" tIns="0" rIns="0" bIns="0" rtlCol="0" anchor="ctr"/>
          <a:lstStyle/>
          <a:p>
            <a:pPr indent="0" marL="0">
              <a:buNone/>
            </a:pPr>
            <a:r>
              <a:rPr lang="en-US" sz="1300" b="1" spc="400" kern="0" dirty="0">
                <a:solidFill>
                  <a:srgbClr val="02C39A"/>
                </a:solidFill>
                <a:latin typeface="Calibri" pitchFamily="34" charset="0"/>
                <a:ea typeface="Calibri" pitchFamily="34" charset="-122"/>
                <a:cs typeface="Calibri" pitchFamily="34" charset="-120"/>
              </a:rPr>
              <a:t>THE SOLUTION — PRIMENET UNIFIED INTERFACE</a:t>
            </a:r>
            <a:endParaRPr lang="en-US" sz="13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600" b="1" dirty="0">
                <a:solidFill>
                  <a:srgbClr val="1E2761"/>
                </a:solidFill>
                <a:latin typeface="Calibri" pitchFamily="34" charset="0"/>
                <a:ea typeface="Calibri" pitchFamily="34" charset="-122"/>
                <a:cs typeface="Calibri" pitchFamily="34" charset="-120"/>
              </a:rPr>
              <a:t>PrimeNet: One Interface, Every Network</a:t>
            </a:r>
            <a:endParaRPr lang="en-US" sz="3600" dirty="0"/>
          </a:p>
        </p:txBody>
      </p:sp>
      <p:sp>
        <p:nvSpPr>
          <p:cNvPr id="4" name="Shape 2"/>
          <p:cNvSpPr/>
          <p:nvPr/>
        </p:nvSpPr>
        <p:spPr>
          <a:xfrm>
            <a:off x="658368" y="1920240"/>
            <a:ext cx="3200400" cy="1600200"/>
          </a:xfrm>
          <a:prstGeom prst="roundRect">
            <a:avLst>
              <a:gd name="adj" fmla="val 5143"/>
            </a:avLst>
          </a:prstGeom>
          <a:solidFill>
            <a:srgbClr val="F0F4FC"/>
          </a:solidFill>
          <a:ln w="12700">
            <a:solidFill>
              <a:srgbClr val="CADCFC"/>
            </a:solidFill>
            <a:prstDash val="solid"/>
          </a:ln>
        </p:spPr>
      </p:sp>
      <p:sp>
        <p:nvSpPr>
          <p:cNvPr id="5" name="Text 3"/>
          <p:cNvSpPr/>
          <p:nvPr/>
        </p:nvSpPr>
        <p:spPr>
          <a:xfrm>
            <a:off x="932688" y="2121408"/>
            <a:ext cx="2651760" cy="274320"/>
          </a:xfrm>
          <a:prstGeom prst="rect">
            <a:avLst/>
          </a:prstGeom>
          <a:noFill/>
          <a:ln/>
        </p:spPr>
        <p:txBody>
          <a:bodyPr wrap="square" lIns="0" tIns="0" rIns="0" bIns="0" rtlCol="0" anchor="ctr"/>
          <a:lstStyle/>
          <a:p>
            <a:pPr indent="0" marL="0">
              <a:buNone/>
            </a:pPr>
            <a:r>
              <a:rPr lang="en-US" sz="1150" b="1" spc="200" kern="0" dirty="0">
                <a:solidFill>
                  <a:srgbClr val="029B7B"/>
                </a:solidFill>
                <a:latin typeface="Calibri" pitchFamily="34" charset="0"/>
                <a:ea typeface="Calibri" pitchFamily="34" charset="-122"/>
                <a:cs typeface="Calibri" pitchFamily="34" charset="-120"/>
              </a:rPr>
              <a:t>1 · INPUT</a:t>
            </a:r>
            <a:endParaRPr lang="en-US" sz="1150" dirty="0"/>
          </a:p>
        </p:txBody>
      </p:sp>
      <p:sp>
        <p:nvSpPr>
          <p:cNvPr id="6" name="Text 4"/>
          <p:cNvSpPr/>
          <p:nvPr/>
        </p:nvSpPr>
        <p:spPr>
          <a:xfrm>
            <a:off x="932688" y="2395728"/>
            <a:ext cx="2651760" cy="566928"/>
          </a:xfrm>
          <a:prstGeom prst="rect">
            <a:avLst/>
          </a:prstGeom>
          <a:noFill/>
          <a:ln/>
        </p:spPr>
        <p:txBody>
          <a:bodyPr wrap="square" lIns="0" tIns="0" rIns="0" bIns="0" rtlCol="0" anchor="t"/>
          <a:lstStyle/>
          <a:p>
            <a:pPr indent="0" marL="0">
              <a:buNone/>
            </a:pPr>
            <a:r>
              <a:rPr lang="en-US" sz="1550" b="1" dirty="0">
                <a:solidFill>
                  <a:srgbClr val="1E2761"/>
                </a:solidFill>
                <a:latin typeface="Calibri" pitchFamily="34" charset="0"/>
                <a:ea typeface="Calibri" pitchFamily="34" charset="-122"/>
                <a:cs typeface="Calibri" pitchFamily="34" charset="-120"/>
              </a:rPr>
              <a:t>Multi-vendor, multi-RAT data</a:t>
            </a:r>
            <a:endParaRPr lang="en-US" sz="1550" dirty="0"/>
          </a:p>
        </p:txBody>
      </p:sp>
      <p:sp>
        <p:nvSpPr>
          <p:cNvPr id="7" name="Text 5"/>
          <p:cNvSpPr/>
          <p:nvPr/>
        </p:nvSpPr>
        <p:spPr>
          <a:xfrm>
            <a:off x="932688" y="2907792"/>
            <a:ext cx="2651760" cy="548640"/>
          </a:xfrm>
          <a:prstGeom prst="rect">
            <a:avLst/>
          </a:prstGeom>
          <a:noFill/>
          <a:ln/>
        </p:spPr>
        <p:txBody>
          <a:bodyPr wrap="square" lIns="0" tIns="0" rIns="0" bIns="0" rtlCol="0" anchor="t"/>
          <a:lstStyle/>
          <a:p>
            <a:pPr indent="0" marL="0">
              <a:buNone/>
            </a:pPr>
            <a:r>
              <a:rPr lang="en-US" sz="1150" dirty="0">
                <a:solidFill>
                  <a:srgbClr val="44546A"/>
                </a:solidFill>
                <a:latin typeface="Calibri" pitchFamily="34" charset="0"/>
                <a:ea typeface="Calibri" pitchFamily="34" charset="-122"/>
                <a:cs typeface="Calibri" pitchFamily="34" charset="-120"/>
              </a:rPr>
              <a:t>Ericsson · Huawei · Nokia — 2G to 5G, performance &amp; configuration</a:t>
            </a:r>
            <a:endParaRPr lang="en-US" sz="1150" dirty="0"/>
          </a:p>
        </p:txBody>
      </p:sp>
      <p:sp>
        <p:nvSpPr>
          <p:cNvPr id="8" name="Shape 6"/>
          <p:cNvSpPr/>
          <p:nvPr/>
        </p:nvSpPr>
        <p:spPr>
          <a:xfrm>
            <a:off x="4498848" y="1920240"/>
            <a:ext cx="3200400" cy="1600200"/>
          </a:xfrm>
          <a:prstGeom prst="roundRect">
            <a:avLst>
              <a:gd name="adj" fmla="val 5143"/>
            </a:avLst>
          </a:prstGeom>
          <a:solidFill>
            <a:srgbClr val="1E2761"/>
          </a:solidFill>
          <a:ln/>
        </p:spPr>
      </p:sp>
      <p:sp>
        <p:nvSpPr>
          <p:cNvPr id="9" name="Text 7"/>
          <p:cNvSpPr/>
          <p:nvPr/>
        </p:nvSpPr>
        <p:spPr>
          <a:xfrm>
            <a:off x="4773168" y="2121408"/>
            <a:ext cx="2651760" cy="274320"/>
          </a:xfrm>
          <a:prstGeom prst="rect">
            <a:avLst/>
          </a:prstGeom>
          <a:noFill/>
          <a:ln/>
        </p:spPr>
        <p:txBody>
          <a:bodyPr wrap="square" lIns="0" tIns="0" rIns="0" bIns="0" rtlCol="0" anchor="ctr"/>
          <a:lstStyle/>
          <a:p>
            <a:pPr indent="0" marL="0">
              <a:buNone/>
            </a:pPr>
            <a:r>
              <a:rPr lang="en-US" sz="1150" b="1" spc="200" kern="0" dirty="0">
                <a:solidFill>
                  <a:srgbClr val="02C39A"/>
                </a:solidFill>
                <a:latin typeface="Calibri" pitchFamily="34" charset="0"/>
                <a:ea typeface="Calibri" pitchFamily="34" charset="-122"/>
                <a:cs typeface="Calibri" pitchFamily="34" charset="-120"/>
              </a:rPr>
              <a:t>2 · CORE</a:t>
            </a:r>
            <a:endParaRPr lang="en-US" sz="1150" dirty="0"/>
          </a:p>
        </p:txBody>
      </p:sp>
      <p:sp>
        <p:nvSpPr>
          <p:cNvPr id="10" name="Text 8"/>
          <p:cNvSpPr/>
          <p:nvPr/>
        </p:nvSpPr>
        <p:spPr>
          <a:xfrm>
            <a:off x="4773168" y="2395728"/>
            <a:ext cx="2651760" cy="566928"/>
          </a:xfrm>
          <a:prstGeom prst="rect">
            <a:avLst/>
          </a:prstGeom>
          <a:noFill/>
          <a:ln/>
        </p:spPr>
        <p:txBody>
          <a:bodyPr wrap="square" lIns="0" tIns="0" rIns="0" bIns="0" rtlCol="0" anchor="t"/>
          <a:lstStyle/>
          <a:p>
            <a:pPr indent="0" marL="0">
              <a:buNone/>
            </a:pPr>
            <a:r>
              <a:rPr lang="en-US" sz="1550" b="1" dirty="0">
                <a:solidFill>
                  <a:srgbClr val="FFFFFF"/>
                </a:solidFill>
                <a:latin typeface="Calibri" pitchFamily="34" charset="0"/>
                <a:ea typeface="Calibri" pitchFamily="34" charset="-122"/>
                <a:cs typeface="Calibri" pitchFamily="34" charset="-120"/>
              </a:rPr>
              <a:t>PrimeNet Engine</a:t>
            </a:r>
            <a:endParaRPr lang="en-US" sz="1550" dirty="0"/>
          </a:p>
        </p:txBody>
      </p:sp>
      <p:sp>
        <p:nvSpPr>
          <p:cNvPr id="11" name="Text 9"/>
          <p:cNvSpPr/>
          <p:nvPr/>
        </p:nvSpPr>
        <p:spPr>
          <a:xfrm>
            <a:off x="4773168" y="2907792"/>
            <a:ext cx="2651760" cy="548640"/>
          </a:xfrm>
          <a:prstGeom prst="rect">
            <a:avLst/>
          </a:prstGeom>
          <a:noFill/>
          <a:ln/>
        </p:spPr>
        <p:txBody>
          <a:bodyPr wrap="square" lIns="0" tIns="0" rIns="0" bIns="0" rtlCol="0" anchor="t"/>
          <a:lstStyle/>
          <a:p>
            <a:pPr indent="0" marL="0">
              <a:buNone/>
            </a:pPr>
            <a:r>
              <a:rPr lang="en-US" sz="1150" dirty="0">
                <a:solidFill>
                  <a:srgbClr val="CADCFC"/>
                </a:solidFill>
                <a:latin typeface="Calibri" pitchFamily="34" charset="0"/>
                <a:ea typeface="Calibri" pitchFamily="34" charset="-122"/>
                <a:cs typeface="Calibri" pitchFamily="34" charset="-120"/>
              </a:rPr>
              <a:t>unifies, normalizes and analyzes every source in one data model</a:t>
            </a:r>
            <a:endParaRPr lang="en-US" sz="1150" dirty="0"/>
          </a:p>
        </p:txBody>
      </p:sp>
      <p:sp>
        <p:nvSpPr>
          <p:cNvPr id="12" name="Shape 10"/>
          <p:cNvSpPr/>
          <p:nvPr/>
        </p:nvSpPr>
        <p:spPr>
          <a:xfrm>
            <a:off x="8339328" y="1920240"/>
            <a:ext cx="3200400" cy="1600200"/>
          </a:xfrm>
          <a:prstGeom prst="roundRect">
            <a:avLst>
              <a:gd name="adj" fmla="val 5143"/>
            </a:avLst>
          </a:prstGeom>
          <a:solidFill>
            <a:srgbClr val="DDF6F0"/>
          </a:solidFill>
          <a:ln w="12700">
            <a:solidFill>
              <a:srgbClr val="02C39A"/>
            </a:solidFill>
            <a:prstDash val="solid"/>
          </a:ln>
        </p:spPr>
      </p:sp>
      <p:sp>
        <p:nvSpPr>
          <p:cNvPr id="13" name="Text 11"/>
          <p:cNvSpPr/>
          <p:nvPr/>
        </p:nvSpPr>
        <p:spPr>
          <a:xfrm>
            <a:off x="8613648" y="2121408"/>
            <a:ext cx="2651760" cy="274320"/>
          </a:xfrm>
          <a:prstGeom prst="rect">
            <a:avLst/>
          </a:prstGeom>
          <a:noFill/>
          <a:ln/>
        </p:spPr>
        <p:txBody>
          <a:bodyPr wrap="square" lIns="0" tIns="0" rIns="0" bIns="0" rtlCol="0" anchor="ctr"/>
          <a:lstStyle/>
          <a:p>
            <a:pPr indent="0" marL="0">
              <a:buNone/>
            </a:pPr>
            <a:r>
              <a:rPr lang="en-US" sz="1150" b="1" spc="200" kern="0" dirty="0">
                <a:solidFill>
                  <a:srgbClr val="029B7B"/>
                </a:solidFill>
                <a:latin typeface="Calibri" pitchFamily="34" charset="0"/>
                <a:ea typeface="Calibri" pitchFamily="34" charset="-122"/>
                <a:cs typeface="Calibri" pitchFamily="34" charset="-120"/>
              </a:rPr>
              <a:t>3 · OUTPUT</a:t>
            </a:r>
            <a:endParaRPr lang="en-US" sz="1150" dirty="0"/>
          </a:p>
        </p:txBody>
      </p:sp>
      <p:sp>
        <p:nvSpPr>
          <p:cNvPr id="14" name="Text 12"/>
          <p:cNvSpPr/>
          <p:nvPr/>
        </p:nvSpPr>
        <p:spPr>
          <a:xfrm>
            <a:off x="8613648" y="2395728"/>
            <a:ext cx="2651760" cy="566928"/>
          </a:xfrm>
          <a:prstGeom prst="rect">
            <a:avLst/>
          </a:prstGeom>
          <a:noFill/>
          <a:ln/>
        </p:spPr>
        <p:txBody>
          <a:bodyPr wrap="square" lIns="0" tIns="0" rIns="0" bIns="0" rtlCol="0" anchor="t"/>
          <a:lstStyle/>
          <a:p>
            <a:pPr indent="0" marL="0">
              <a:buNone/>
            </a:pPr>
            <a:r>
              <a:rPr lang="en-US" sz="1550" b="1" dirty="0">
                <a:solidFill>
                  <a:srgbClr val="1E2761"/>
                </a:solidFill>
                <a:latin typeface="Calibri" pitchFamily="34" charset="0"/>
                <a:ea typeface="Calibri" pitchFamily="34" charset="-122"/>
                <a:cs typeface="Calibri" pitchFamily="34" charset="-120"/>
              </a:rPr>
              <a:t>Unified web interface</a:t>
            </a:r>
            <a:endParaRPr lang="en-US" sz="1550" dirty="0"/>
          </a:p>
        </p:txBody>
      </p:sp>
      <p:sp>
        <p:nvSpPr>
          <p:cNvPr id="15" name="Text 13"/>
          <p:cNvSpPr/>
          <p:nvPr/>
        </p:nvSpPr>
        <p:spPr>
          <a:xfrm>
            <a:off x="8613648" y="2907792"/>
            <a:ext cx="2651760" cy="548640"/>
          </a:xfrm>
          <a:prstGeom prst="rect">
            <a:avLst/>
          </a:prstGeom>
          <a:noFill/>
          <a:ln/>
        </p:spPr>
        <p:txBody>
          <a:bodyPr wrap="square" lIns="0" tIns="0" rIns="0" bIns="0" rtlCol="0" anchor="t"/>
          <a:lstStyle/>
          <a:p>
            <a:pPr indent="0" marL="0">
              <a:buNone/>
            </a:pPr>
            <a:r>
              <a:rPr lang="en-US" sz="1150" dirty="0">
                <a:solidFill>
                  <a:srgbClr val="44546A"/>
                </a:solidFill>
                <a:latin typeface="Calibri" pitchFamily="34" charset="0"/>
                <a:ea typeface="Calibri" pitchFamily="34" charset="-122"/>
                <a:cs typeface="Calibri" pitchFamily="34" charset="-120"/>
              </a:rPr>
              <a:t>one dashboard for every team, regardless of hardware provider</a:t>
            </a:r>
            <a:endParaRPr lang="en-US" sz="1150" dirty="0"/>
          </a:p>
        </p:txBody>
      </p:sp>
      <p:sp>
        <p:nvSpPr>
          <p:cNvPr id="16" name="Shape 14"/>
          <p:cNvSpPr/>
          <p:nvPr/>
        </p:nvSpPr>
        <p:spPr>
          <a:xfrm rot="5400000">
            <a:off x="3968496" y="2546604"/>
            <a:ext cx="384048" cy="347472"/>
          </a:xfrm>
          <a:prstGeom prst="triangle">
            <a:avLst/>
          </a:prstGeom>
          <a:solidFill>
            <a:srgbClr val="02C39A"/>
          </a:solidFill>
          <a:ln/>
        </p:spPr>
      </p:sp>
      <p:sp>
        <p:nvSpPr>
          <p:cNvPr id="17" name="Shape 15"/>
          <p:cNvSpPr/>
          <p:nvPr/>
        </p:nvSpPr>
        <p:spPr>
          <a:xfrm rot="5400000">
            <a:off x="7808976" y="2546604"/>
            <a:ext cx="384048" cy="347472"/>
          </a:xfrm>
          <a:prstGeom prst="triangle">
            <a:avLst/>
          </a:prstGeom>
          <a:solidFill>
            <a:srgbClr val="02C39A"/>
          </a:solidFill>
          <a:ln/>
        </p:spPr>
      </p:sp>
      <p:sp>
        <p:nvSpPr>
          <p:cNvPr id="18" name="Shape 16"/>
          <p:cNvSpPr/>
          <p:nvPr/>
        </p:nvSpPr>
        <p:spPr>
          <a:xfrm>
            <a:off x="932688" y="4069080"/>
            <a:ext cx="502920" cy="502920"/>
          </a:xfrm>
          <a:prstGeom prst="ellipse">
            <a:avLst/>
          </a:prstGeom>
          <a:solidFill>
            <a:srgbClr val="02C39A"/>
          </a:solidFill>
          <a:ln/>
        </p:spPr>
      </p:sp>
      <p:pic>
        <p:nvPicPr>
          <p:cNvPr id="19" name="Image 0" descr="preencoded.png">    </p:cNvPr>
          <p:cNvPicPr>
            <a:picLocks noChangeAspect="1"/>
          </p:cNvPicPr>
          <p:nvPr/>
        </p:nvPicPr>
        <p:blipFill>
          <a:blip r:embed="rId1"/>
          <a:stretch>
            <a:fillRect/>
          </a:stretch>
        </p:blipFill>
        <p:spPr>
          <a:xfrm>
            <a:off x="1053389" y="4189781"/>
            <a:ext cx="261518" cy="261518"/>
          </a:xfrm>
          <a:prstGeom prst="rect">
            <a:avLst/>
          </a:prstGeom>
        </p:spPr>
      </p:pic>
      <p:sp>
        <p:nvSpPr>
          <p:cNvPr id="20" name="Text 17"/>
          <p:cNvSpPr/>
          <p:nvPr/>
        </p:nvSpPr>
        <p:spPr>
          <a:xfrm>
            <a:off x="1618488" y="4069080"/>
            <a:ext cx="2240280"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Monitor</a:t>
            </a:r>
            <a:endParaRPr lang="en-US" sz="1450" dirty="0"/>
          </a:p>
        </p:txBody>
      </p:sp>
      <p:sp>
        <p:nvSpPr>
          <p:cNvPr id="21" name="Text 18"/>
          <p:cNvSpPr/>
          <p:nvPr/>
        </p:nvSpPr>
        <p:spPr>
          <a:xfrm>
            <a:off x="1618488" y="4343400"/>
            <a:ext cx="2240280" cy="274320"/>
          </a:xfrm>
          <a:prstGeom prst="rect">
            <a:avLst/>
          </a:prstGeom>
          <a:noFill/>
          <a:ln/>
        </p:spPr>
        <p:txBody>
          <a:bodyPr wrap="square" lIns="0" tIns="0" rIns="0" bIns="0" rtlCol="0" anchor="ctr"/>
          <a:lstStyle/>
          <a:p>
            <a:pPr indent="0" marL="0">
              <a:buNone/>
            </a:pPr>
            <a:r>
              <a:rPr lang="en-US" sz="1100" dirty="0">
                <a:solidFill>
                  <a:srgbClr val="44546A"/>
                </a:solidFill>
                <a:latin typeface="Calibri" pitchFamily="34" charset="0"/>
                <a:ea typeface="Calibri" pitchFamily="34" charset="-122"/>
                <a:cs typeface="Calibri" pitchFamily="34" charset="-120"/>
              </a:rPr>
              <a:t>live KPIs &amp; network health</a:t>
            </a:r>
            <a:endParaRPr lang="en-US" sz="1100" dirty="0"/>
          </a:p>
        </p:txBody>
      </p:sp>
      <p:sp>
        <p:nvSpPr>
          <p:cNvPr id="22" name="Shape 19"/>
          <p:cNvSpPr/>
          <p:nvPr/>
        </p:nvSpPr>
        <p:spPr>
          <a:xfrm>
            <a:off x="4773168" y="4069080"/>
            <a:ext cx="502920" cy="502920"/>
          </a:xfrm>
          <a:prstGeom prst="ellipse">
            <a:avLst/>
          </a:prstGeom>
          <a:solidFill>
            <a:srgbClr val="02C39A"/>
          </a:solidFill>
          <a:ln/>
        </p:spPr>
      </p:sp>
      <p:pic>
        <p:nvPicPr>
          <p:cNvPr id="23" name="Image 1" descr="preencoded.png">    </p:cNvPr>
          <p:cNvPicPr>
            <a:picLocks noChangeAspect="1"/>
          </p:cNvPicPr>
          <p:nvPr/>
        </p:nvPicPr>
        <p:blipFill>
          <a:blip r:embed="rId2"/>
          <a:stretch>
            <a:fillRect/>
          </a:stretch>
        </p:blipFill>
        <p:spPr>
          <a:xfrm>
            <a:off x="4893869" y="4189781"/>
            <a:ext cx="261518" cy="261518"/>
          </a:xfrm>
          <a:prstGeom prst="rect">
            <a:avLst/>
          </a:prstGeom>
        </p:spPr>
      </p:pic>
      <p:sp>
        <p:nvSpPr>
          <p:cNvPr id="24" name="Text 20"/>
          <p:cNvSpPr/>
          <p:nvPr/>
        </p:nvSpPr>
        <p:spPr>
          <a:xfrm>
            <a:off x="5458968" y="4069080"/>
            <a:ext cx="2240280"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Configure</a:t>
            </a:r>
            <a:endParaRPr lang="en-US" sz="1450" dirty="0"/>
          </a:p>
        </p:txBody>
      </p:sp>
      <p:sp>
        <p:nvSpPr>
          <p:cNvPr id="25" name="Text 21"/>
          <p:cNvSpPr/>
          <p:nvPr/>
        </p:nvSpPr>
        <p:spPr>
          <a:xfrm>
            <a:off x="5458968" y="4343400"/>
            <a:ext cx="2240280" cy="274320"/>
          </a:xfrm>
          <a:prstGeom prst="rect">
            <a:avLst/>
          </a:prstGeom>
          <a:noFill/>
          <a:ln/>
        </p:spPr>
        <p:txBody>
          <a:bodyPr wrap="square" lIns="0" tIns="0" rIns="0" bIns="0" rtlCol="0" anchor="ctr"/>
          <a:lstStyle/>
          <a:p>
            <a:pPr indent="0" marL="0">
              <a:buNone/>
            </a:pPr>
            <a:r>
              <a:rPr lang="en-US" sz="1100" dirty="0">
                <a:solidFill>
                  <a:srgbClr val="44546A"/>
                </a:solidFill>
                <a:latin typeface="Calibri" pitchFamily="34" charset="0"/>
                <a:ea typeface="Calibri" pitchFamily="34" charset="-122"/>
                <a:cs typeface="Calibri" pitchFamily="34" charset="-120"/>
              </a:rPr>
              <a:t>parameters &amp; change control</a:t>
            </a:r>
            <a:endParaRPr lang="en-US" sz="1100" dirty="0"/>
          </a:p>
        </p:txBody>
      </p:sp>
      <p:sp>
        <p:nvSpPr>
          <p:cNvPr id="26" name="Shape 22"/>
          <p:cNvSpPr/>
          <p:nvPr/>
        </p:nvSpPr>
        <p:spPr>
          <a:xfrm>
            <a:off x="8613648" y="4069080"/>
            <a:ext cx="502920" cy="502920"/>
          </a:xfrm>
          <a:prstGeom prst="ellipse">
            <a:avLst/>
          </a:prstGeom>
          <a:solidFill>
            <a:srgbClr val="02C39A"/>
          </a:solidFill>
          <a:ln/>
        </p:spPr>
      </p:sp>
      <p:pic>
        <p:nvPicPr>
          <p:cNvPr id="27" name="Image 2" descr="preencoded.png">    </p:cNvPr>
          <p:cNvPicPr>
            <a:picLocks noChangeAspect="1"/>
          </p:cNvPicPr>
          <p:nvPr/>
        </p:nvPicPr>
        <p:blipFill>
          <a:blip r:embed="rId3"/>
          <a:stretch>
            <a:fillRect/>
          </a:stretch>
        </p:blipFill>
        <p:spPr>
          <a:xfrm>
            <a:off x="8734349" y="4189781"/>
            <a:ext cx="261518" cy="261518"/>
          </a:xfrm>
          <a:prstGeom prst="rect">
            <a:avLst/>
          </a:prstGeom>
        </p:spPr>
      </p:pic>
      <p:sp>
        <p:nvSpPr>
          <p:cNvPr id="28" name="Text 23"/>
          <p:cNvSpPr/>
          <p:nvPr/>
        </p:nvSpPr>
        <p:spPr>
          <a:xfrm>
            <a:off x="9299448" y="4069080"/>
            <a:ext cx="2240280"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Optimize</a:t>
            </a:r>
            <a:endParaRPr lang="en-US" sz="1450" dirty="0"/>
          </a:p>
        </p:txBody>
      </p:sp>
      <p:sp>
        <p:nvSpPr>
          <p:cNvPr id="29" name="Text 24"/>
          <p:cNvSpPr/>
          <p:nvPr/>
        </p:nvSpPr>
        <p:spPr>
          <a:xfrm>
            <a:off x="9299448" y="4343400"/>
            <a:ext cx="2240280" cy="274320"/>
          </a:xfrm>
          <a:prstGeom prst="rect">
            <a:avLst/>
          </a:prstGeom>
          <a:noFill/>
          <a:ln/>
        </p:spPr>
        <p:txBody>
          <a:bodyPr wrap="square" lIns="0" tIns="0" rIns="0" bIns="0" rtlCol="0" anchor="ctr"/>
          <a:lstStyle/>
          <a:p>
            <a:pPr indent="0" marL="0">
              <a:buNone/>
            </a:pPr>
            <a:r>
              <a:rPr lang="en-US" sz="1100" dirty="0">
                <a:solidFill>
                  <a:srgbClr val="44546A"/>
                </a:solidFill>
                <a:latin typeface="Calibri" pitchFamily="34" charset="0"/>
                <a:ea typeface="Calibri" pitchFamily="34" charset="-122"/>
                <a:cs typeface="Calibri" pitchFamily="34" charset="-120"/>
              </a:rPr>
              <a:t>detectors &amp; tuning actions</a:t>
            </a:r>
            <a:endParaRPr lang="en-US" sz="1100" dirty="0"/>
          </a:p>
        </p:txBody>
      </p:sp>
      <p:sp>
        <p:nvSpPr>
          <p:cNvPr id="30" name="Text 25"/>
          <p:cNvSpPr/>
          <p:nvPr/>
        </p:nvSpPr>
        <p:spPr>
          <a:xfrm>
            <a:off x="658368" y="5257800"/>
            <a:ext cx="10881360" cy="914400"/>
          </a:xfrm>
          <a:prstGeom prst="rect">
            <a:avLst/>
          </a:prstGeom>
          <a:noFill/>
          <a:ln/>
        </p:spPr>
        <p:txBody>
          <a:bodyPr wrap="square" lIns="0" tIns="0" rIns="0" bIns="0" rtlCol="0" anchor="t"/>
          <a:lstStyle/>
          <a:p>
            <a:pPr indent="0" marL="0">
              <a:buNone/>
            </a:pPr>
            <a:r>
              <a:rPr lang="en-US" sz="1450" b="1" dirty="0">
                <a:solidFill>
                  <a:srgbClr val="1E2761"/>
                </a:solidFill>
                <a:latin typeface="Calibri" pitchFamily="34" charset="0"/>
                <a:ea typeface="Calibri" pitchFamily="34" charset="-122"/>
                <a:cs typeface="Calibri" pitchFamily="34" charset="-120"/>
              </a:rPr>
              <a:t>One single, web-based dashboard </a:t>
            </a:r>
            <a:pPr indent="0" marL="0">
              <a:buNone/>
            </a:pPr>
            <a:r>
              <a:rPr lang="en-US" sz="1450" dirty="0">
                <a:solidFill>
                  <a:srgbClr val="44546A"/>
                </a:solidFill>
                <a:latin typeface="Calibri" pitchFamily="34" charset="0"/>
                <a:ea typeface="Calibri" pitchFamily="34" charset="-122"/>
                <a:cs typeface="Calibri" pitchFamily="34" charset="-120"/>
              </a:rPr>
              <a:t>consolidates multi-vendor and multi-RAT engineering into one place — stripping away technical complexity so engineers monitor, configure and optimize everything, regardless of the hardware provider.</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384048"/>
            <a:ext cx="9144000" cy="320040"/>
          </a:xfrm>
          <a:prstGeom prst="rect">
            <a:avLst/>
          </a:prstGeom>
          <a:noFill/>
          <a:ln/>
        </p:spPr>
        <p:txBody>
          <a:bodyPr wrap="square" lIns="0" tIns="0" rIns="0" bIns="0" rtlCol="0" anchor="ctr"/>
          <a:lstStyle/>
          <a:p>
            <a:pPr indent="0" marL="0">
              <a:buNone/>
            </a:pPr>
            <a:r>
              <a:rPr lang="en-US" sz="1300" b="1" spc="400" kern="0" dirty="0">
                <a:solidFill>
                  <a:srgbClr val="02C39A"/>
                </a:solidFill>
                <a:latin typeface="Calibri" pitchFamily="34" charset="0"/>
                <a:ea typeface="Calibri" pitchFamily="34" charset="-122"/>
                <a:cs typeface="Calibri" pitchFamily="34" charset="-120"/>
              </a:rPr>
              <a:t>THE VISION &amp; ROI — INTERNAL TOOL TO GLOBAL SAAS</a:t>
            </a:r>
            <a:endParaRPr lang="en-US" sz="1300" dirty="0"/>
          </a:p>
        </p:txBody>
      </p:sp>
      <p:sp>
        <p:nvSpPr>
          <p:cNvPr id="3" name="Text 1"/>
          <p:cNvSpPr/>
          <p:nvPr/>
        </p:nvSpPr>
        <p:spPr>
          <a:xfrm>
            <a:off x="548640" y="713232"/>
            <a:ext cx="11064240" cy="658368"/>
          </a:xfrm>
          <a:prstGeom prst="rect">
            <a:avLst/>
          </a:prstGeom>
          <a:noFill/>
          <a:ln/>
        </p:spPr>
        <p:txBody>
          <a:bodyPr wrap="square" lIns="0" tIns="0" rIns="0" bIns="0" rtlCol="0" anchor="ctr"/>
          <a:lstStyle/>
          <a:p>
            <a:pPr indent="0" marL="0">
              <a:buNone/>
            </a:pPr>
            <a:r>
              <a:rPr lang="en-US" sz="3100" b="1" dirty="0">
                <a:solidFill>
                  <a:srgbClr val="FFFFFF"/>
                </a:solidFill>
                <a:latin typeface="Calibri" pitchFamily="34" charset="0"/>
                <a:ea typeface="Calibri" pitchFamily="34" charset="-122"/>
                <a:cs typeface="Calibri" pitchFamily="34" charset="-120"/>
              </a:rPr>
              <a:t>Slashing Internal OpEx Today, Commercializing Tomorrow</a:t>
            </a:r>
            <a:endParaRPr lang="en-US" sz="3100" dirty="0"/>
          </a:p>
        </p:txBody>
      </p:sp>
      <p:sp>
        <p:nvSpPr>
          <p:cNvPr id="4" name="Shape 2"/>
          <p:cNvSpPr/>
          <p:nvPr/>
        </p:nvSpPr>
        <p:spPr>
          <a:xfrm>
            <a:off x="548640" y="1645920"/>
            <a:ext cx="5230368" cy="3611880"/>
          </a:xfrm>
          <a:prstGeom prst="roundRect">
            <a:avLst>
              <a:gd name="adj" fmla="val 2278"/>
            </a:avLst>
          </a:prstGeom>
          <a:solidFill>
            <a:srgbClr val="2A3575"/>
          </a:solidFill>
          <a:ln/>
        </p:spPr>
      </p:sp>
      <p:sp>
        <p:nvSpPr>
          <p:cNvPr id="5" name="Shape 3"/>
          <p:cNvSpPr/>
          <p:nvPr/>
        </p:nvSpPr>
        <p:spPr>
          <a:xfrm>
            <a:off x="841248" y="1938528"/>
            <a:ext cx="566928" cy="566928"/>
          </a:xfrm>
          <a:prstGeom prst="ellipse">
            <a:avLst/>
          </a:prstGeom>
          <a:solidFill>
            <a:srgbClr val="02C39A"/>
          </a:solidFill>
          <a:ln/>
        </p:spPr>
      </p:sp>
      <p:pic>
        <p:nvPicPr>
          <p:cNvPr id="6" name="Image 0" descr="preencoded.png">    </p:cNvPr>
          <p:cNvPicPr>
            <a:picLocks noChangeAspect="1"/>
          </p:cNvPicPr>
          <p:nvPr/>
        </p:nvPicPr>
        <p:blipFill>
          <a:blip r:embed="rId1"/>
          <a:stretch>
            <a:fillRect/>
          </a:stretch>
        </p:blipFill>
        <p:spPr>
          <a:xfrm>
            <a:off x="977311" y="2074591"/>
            <a:ext cx="294803" cy="294803"/>
          </a:xfrm>
          <a:prstGeom prst="rect">
            <a:avLst/>
          </a:prstGeom>
        </p:spPr>
      </p:pic>
      <p:sp>
        <p:nvSpPr>
          <p:cNvPr id="7" name="Text 4"/>
          <p:cNvSpPr/>
          <p:nvPr/>
        </p:nvSpPr>
        <p:spPr>
          <a:xfrm>
            <a:off x="1554480" y="1956816"/>
            <a:ext cx="3950208" cy="256032"/>
          </a:xfrm>
          <a:prstGeom prst="rect">
            <a:avLst/>
          </a:prstGeom>
          <a:noFill/>
          <a:ln/>
        </p:spPr>
        <p:txBody>
          <a:bodyPr wrap="square" lIns="0" tIns="0" rIns="0" bIns="0" rtlCol="0" anchor="ctr"/>
          <a:lstStyle/>
          <a:p>
            <a:pPr indent="0" marL="0">
              <a:buNone/>
            </a:pPr>
            <a:r>
              <a:rPr lang="en-US" sz="1150" b="1" spc="200" kern="0" dirty="0">
                <a:solidFill>
                  <a:srgbClr val="02C39A"/>
                </a:solidFill>
                <a:latin typeface="Calibri" pitchFamily="34" charset="0"/>
                <a:ea typeface="Calibri" pitchFamily="34" charset="-122"/>
                <a:cs typeface="Calibri" pitchFamily="34" charset="-120"/>
              </a:rPr>
              <a:t>PHASE 1 · DEPLOY NOW</a:t>
            </a:r>
            <a:endParaRPr lang="en-US" sz="1150" dirty="0"/>
          </a:p>
        </p:txBody>
      </p:sp>
      <p:sp>
        <p:nvSpPr>
          <p:cNvPr id="8" name="Text 5"/>
          <p:cNvSpPr/>
          <p:nvPr/>
        </p:nvSpPr>
        <p:spPr>
          <a:xfrm>
            <a:off x="1554480" y="2194560"/>
            <a:ext cx="3950208"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Internal OpEx savings</a:t>
            </a:r>
            <a:endParaRPr lang="en-US" sz="1800" dirty="0"/>
          </a:p>
        </p:txBody>
      </p:sp>
      <p:sp>
        <p:nvSpPr>
          <p:cNvPr id="9" name="Text 6"/>
          <p:cNvSpPr/>
          <p:nvPr/>
        </p:nvSpPr>
        <p:spPr>
          <a:xfrm>
            <a:off x="841248" y="2788920"/>
            <a:ext cx="4645152" cy="621792"/>
          </a:xfrm>
          <a:prstGeom prst="rect">
            <a:avLst/>
          </a:prstGeom>
          <a:noFill/>
          <a:ln/>
        </p:spPr>
        <p:txBody>
          <a:bodyPr wrap="square" lIns="0" tIns="0" rIns="0" bIns="0" rtlCol="0" anchor="ctr"/>
          <a:lstStyle/>
          <a:p>
            <a:pPr indent="0" marL="0">
              <a:buNone/>
            </a:pPr>
            <a:r>
              <a:rPr lang="en-US" sz="3800" b="1" dirty="0">
                <a:solidFill>
                  <a:srgbClr val="02C39A"/>
                </a:solidFill>
                <a:latin typeface="Calibri" pitchFamily="34" charset="0"/>
                <a:ea typeface="Calibri" pitchFamily="34" charset="-122"/>
                <a:cs typeface="Calibri" pitchFamily="34" charset="-120"/>
              </a:rPr>
              <a:t>30%</a:t>
            </a:r>
            <a:endParaRPr lang="en-US" sz="3800" dirty="0"/>
          </a:p>
        </p:txBody>
      </p:sp>
      <p:sp>
        <p:nvSpPr>
          <p:cNvPr id="10" name="Text 7"/>
          <p:cNvSpPr/>
          <p:nvPr/>
        </p:nvSpPr>
        <p:spPr>
          <a:xfrm>
            <a:off x="841248" y="3429000"/>
            <a:ext cx="4645152"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efficiency gain across engineering workflows</a:t>
            </a:r>
            <a:endParaRPr lang="en-US" sz="1200" dirty="0"/>
          </a:p>
        </p:txBody>
      </p:sp>
      <p:sp>
        <p:nvSpPr>
          <p:cNvPr id="11" name="Text 8"/>
          <p:cNvSpPr/>
          <p:nvPr/>
        </p:nvSpPr>
        <p:spPr>
          <a:xfrm>
            <a:off x="932688" y="3931920"/>
            <a:ext cx="4498848" cy="118872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CADCFC"/>
                </a:solidFill>
                <a:latin typeface="Calibri" pitchFamily="34" charset="0"/>
                <a:ea typeface="Calibri" pitchFamily="34" charset="-122"/>
                <a:cs typeface="Calibri" pitchFamily="34" charset="-120"/>
              </a:rPr>
              <a:t>Instantly cut engineering cycle times</a:t>
            </a:r>
            <a:endParaRPr lang="en-US" sz="1250" dirty="0"/>
          </a:p>
          <a:p>
            <a:pPr marL="152400" indent="-152400">
              <a:spcAft>
                <a:spcPts val="600"/>
              </a:spcAft>
              <a:buSzPct val="100000"/>
              <a:buChar char="•"/>
            </a:pPr>
            <a:r>
              <a:rPr lang="en-US" sz="1250" dirty="0">
                <a:solidFill>
                  <a:srgbClr val="CADCFC"/>
                </a:solidFill>
                <a:latin typeface="Calibri" pitchFamily="34" charset="0"/>
                <a:ea typeface="Calibri" pitchFamily="34" charset="-122"/>
                <a:cs typeface="Calibri" pitchFamily="34" charset="-120"/>
              </a:rPr>
              <a:t>Reduce vendor software licensing fees</a:t>
            </a:r>
            <a:endParaRPr lang="en-US" sz="1250" dirty="0"/>
          </a:p>
          <a:p>
            <a:pPr marL="152400" indent="-152400">
              <a:spcAft>
                <a:spcPts val="600"/>
              </a:spcAft>
              <a:buSzPct val="100000"/>
              <a:buChar char="•"/>
            </a:pPr>
            <a:r>
              <a:rPr lang="en-US" sz="1250" dirty="0">
                <a:solidFill>
                  <a:srgbClr val="CADCFC"/>
                </a:solidFill>
                <a:latin typeface="Calibri" pitchFamily="34" charset="0"/>
                <a:ea typeface="Calibri" pitchFamily="34" charset="-122"/>
                <a:cs typeface="Calibri" pitchFamily="34" charset="-120"/>
              </a:rPr>
              <a:t>One platform shared by every team</a:t>
            </a:r>
            <a:endParaRPr lang="en-US" sz="1250" dirty="0"/>
          </a:p>
        </p:txBody>
      </p:sp>
      <p:sp>
        <p:nvSpPr>
          <p:cNvPr id="12" name="Shape 9"/>
          <p:cNvSpPr/>
          <p:nvPr/>
        </p:nvSpPr>
        <p:spPr>
          <a:xfrm>
            <a:off x="6409944" y="1645920"/>
            <a:ext cx="5230368" cy="3611880"/>
          </a:xfrm>
          <a:prstGeom prst="roundRect">
            <a:avLst>
              <a:gd name="adj" fmla="val 2278"/>
            </a:avLst>
          </a:prstGeom>
          <a:solidFill>
            <a:srgbClr val="2A3575"/>
          </a:solidFill>
          <a:ln/>
        </p:spPr>
      </p:sp>
      <p:sp>
        <p:nvSpPr>
          <p:cNvPr id="13" name="Shape 10"/>
          <p:cNvSpPr/>
          <p:nvPr/>
        </p:nvSpPr>
        <p:spPr>
          <a:xfrm>
            <a:off x="6702552" y="1938528"/>
            <a:ext cx="566928" cy="566928"/>
          </a:xfrm>
          <a:prstGeom prst="ellipse">
            <a:avLst/>
          </a:prstGeom>
          <a:solidFill>
            <a:srgbClr val="02C39A"/>
          </a:solidFill>
          <a:ln/>
        </p:spPr>
      </p:sp>
      <p:pic>
        <p:nvPicPr>
          <p:cNvPr id="14" name="Image 1" descr="preencoded.png">    </p:cNvPr>
          <p:cNvPicPr>
            <a:picLocks noChangeAspect="1"/>
          </p:cNvPicPr>
          <p:nvPr/>
        </p:nvPicPr>
        <p:blipFill>
          <a:blip r:embed="rId2"/>
          <a:stretch>
            <a:fillRect/>
          </a:stretch>
        </p:blipFill>
        <p:spPr>
          <a:xfrm>
            <a:off x="6838615" y="2074591"/>
            <a:ext cx="294803" cy="294803"/>
          </a:xfrm>
          <a:prstGeom prst="rect">
            <a:avLst/>
          </a:prstGeom>
        </p:spPr>
      </p:pic>
      <p:sp>
        <p:nvSpPr>
          <p:cNvPr id="15" name="Text 11"/>
          <p:cNvSpPr/>
          <p:nvPr/>
        </p:nvSpPr>
        <p:spPr>
          <a:xfrm>
            <a:off x="7415784" y="1956816"/>
            <a:ext cx="3950208" cy="256032"/>
          </a:xfrm>
          <a:prstGeom prst="rect">
            <a:avLst/>
          </a:prstGeom>
          <a:noFill/>
          <a:ln/>
        </p:spPr>
        <p:txBody>
          <a:bodyPr wrap="square" lIns="0" tIns="0" rIns="0" bIns="0" rtlCol="0" anchor="ctr"/>
          <a:lstStyle/>
          <a:p>
            <a:pPr indent="0" marL="0">
              <a:buNone/>
            </a:pPr>
            <a:r>
              <a:rPr lang="en-US" sz="1150" b="1" spc="200" kern="0" dirty="0">
                <a:solidFill>
                  <a:srgbClr val="02C39A"/>
                </a:solidFill>
                <a:latin typeface="Calibri" pitchFamily="34" charset="0"/>
                <a:ea typeface="Calibri" pitchFamily="34" charset="-122"/>
                <a:cs typeface="Calibri" pitchFamily="34" charset="-120"/>
              </a:rPr>
              <a:t>PHASE 2 · COMMERCIALIZE</a:t>
            </a:r>
            <a:endParaRPr lang="en-US" sz="1150" dirty="0"/>
          </a:p>
        </p:txBody>
      </p:sp>
      <p:sp>
        <p:nvSpPr>
          <p:cNvPr id="16" name="Text 12"/>
          <p:cNvSpPr/>
          <p:nvPr/>
        </p:nvSpPr>
        <p:spPr>
          <a:xfrm>
            <a:off x="7415784" y="2194560"/>
            <a:ext cx="3950208"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B2B operator SaaS</a:t>
            </a:r>
            <a:endParaRPr lang="en-US" sz="1800" dirty="0"/>
          </a:p>
        </p:txBody>
      </p:sp>
      <p:sp>
        <p:nvSpPr>
          <p:cNvPr id="17" name="Text 13"/>
          <p:cNvSpPr/>
          <p:nvPr/>
        </p:nvSpPr>
        <p:spPr>
          <a:xfrm>
            <a:off x="6702552" y="2788920"/>
            <a:ext cx="4645152" cy="621792"/>
          </a:xfrm>
          <a:prstGeom prst="rect">
            <a:avLst/>
          </a:prstGeom>
          <a:noFill/>
          <a:ln/>
        </p:spPr>
        <p:txBody>
          <a:bodyPr wrap="square" lIns="0" tIns="0" rIns="0" bIns="0" rtlCol="0" anchor="ctr"/>
          <a:lstStyle/>
          <a:p>
            <a:pPr indent="0" marL="0">
              <a:buNone/>
            </a:pPr>
            <a:r>
              <a:rPr lang="en-US" sz="3800" b="1" dirty="0">
                <a:solidFill>
                  <a:srgbClr val="02C39A"/>
                </a:solidFill>
                <a:latin typeface="Calibri" pitchFamily="34" charset="0"/>
                <a:ea typeface="Calibri" pitchFamily="34" charset="-122"/>
                <a:cs typeface="Calibri" pitchFamily="34" charset="-120"/>
              </a:rPr>
              <a:t>New revenue</a:t>
            </a:r>
            <a:endParaRPr lang="en-US" sz="3800" dirty="0"/>
          </a:p>
        </p:txBody>
      </p:sp>
      <p:sp>
        <p:nvSpPr>
          <p:cNvPr id="18" name="Text 14"/>
          <p:cNvSpPr/>
          <p:nvPr/>
        </p:nvSpPr>
        <p:spPr>
          <a:xfrm>
            <a:off x="6702552" y="3429000"/>
            <a:ext cx="4645152"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from licensing PrimeNet to global operators</a:t>
            </a:r>
            <a:endParaRPr lang="en-US" sz="1200" dirty="0"/>
          </a:p>
        </p:txBody>
      </p:sp>
      <p:sp>
        <p:nvSpPr>
          <p:cNvPr id="19" name="Text 15"/>
          <p:cNvSpPr/>
          <p:nvPr/>
        </p:nvSpPr>
        <p:spPr>
          <a:xfrm>
            <a:off x="6793992" y="3931920"/>
            <a:ext cx="4498848" cy="118872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CADCFC"/>
                </a:solidFill>
                <a:latin typeface="Calibri" pitchFamily="34" charset="0"/>
                <a:ea typeface="Calibri" pitchFamily="34" charset="-122"/>
                <a:cs typeface="Calibri" pitchFamily="34" charset="-120"/>
              </a:rPr>
              <a:t>Architected to scale as a standalone, integrated system</a:t>
            </a:r>
            <a:endParaRPr lang="en-US" sz="1250" dirty="0"/>
          </a:p>
          <a:p>
            <a:pPr marL="152400" indent="-152400">
              <a:spcAft>
                <a:spcPts val="600"/>
              </a:spcAft>
              <a:buSzPct val="100000"/>
              <a:buChar char="•"/>
            </a:pPr>
            <a:r>
              <a:rPr lang="en-US" sz="1250" dirty="0">
                <a:solidFill>
                  <a:srgbClr val="CADCFC"/>
                </a:solidFill>
                <a:latin typeface="Calibri" pitchFamily="34" charset="0"/>
                <a:ea typeface="Calibri" pitchFamily="34" charset="-122"/>
                <a:cs typeface="Calibri" pitchFamily="34" charset="-120"/>
              </a:rPr>
              <a:t>Licensed to global telecom operators</a:t>
            </a:r>
            <a:endParaRPr lang="en-US" sz="1250" dirty="0"/>
          </a:p>
          <a:p>
            <a:pPr marL="152400" indent="-152400">
              <a:spcAft>
                <a:spcPts val="600"/>
              </a:spcAft>
              <a:buSzPct val="100000"/>
              <a:buChar char="•"/>
            </a:pPr>
            <a:r>
              <a:rPr lang="en-US" sz="1250" dirty="0">
                <a:solidFill>
                  <a:srgbClr val="CADCFC"/>
                </a:solidFill>
                <a:latin typeface="Calibri" pitchFamily="34" charset="0"/>
                <a:ea typeface="Calibri" pitchFamily="34" charset="-122"/>
                <a:cs typeface="Calibri" pitchFamily="34" charset="-120"/>
              </a:rPr>
              <a:t>Turns a cost center into a major revenue stream</a:t>
            </a:r>
            <a:endParaRPr lang="en-US" sz="1250" dirty="0"/>
          </a:p>
        </p:txBody>
      </p:sp>
      <p:sp>
        <p:nvSpPr>
          <p:cNvPr id="20" name="Shape 16"/>
          <p:cNvSpPr/>
          <p:nvPr/>
        </p:nvSpPr>
        <p:spPr>
          <a:xfrm rot="5400000">
            <a:off x="5888736" y="3278124"/>
            <a:ext cx="411480" cy="365760"/>
          </a:xfrm>
          <a:prstGeom prst="triangle">
            <a:avLst/>
          </a:prstGeom>
          <a:solidFill>
            <a:srgbClr val="02C39A"/>
          </a:solidFill>
          <a:ln/>
        </p:spPr>
      </p:sp>
      <p:sp>
        <p:nvSpPr>
          <p:cNvPr id="21" name="Shape 17"/>
          <p:cNvSpPr/>
          <p:nvPr/>
        </p:nvSpPr>
        <p:spPr>
          <a:xfrm>
            <a:off x="548640" y="5623560"/>
            <a:ext cx="11091672" cy="731520"/>
          </a:xfrm>
          <a:prstGeom prst="roundRect">
            <a:avLst>
              <a:gd name="adj" fmla="val 11250"/>
            </a:avLst>
          </a:prstGeom>
          <a:solidFill>
            <a:srgbClr val="02C39A"/>
          </a:solidFill>
          <a:ln/>
        </p:spPr>
      </p:sp>
      <p:sp>
        <p:nvSpPr>
          <p:cNvPr id="22" name="Shape 18"/>
          <p:cNvSpPr/>
          <p:nvPr/>
        </p:nvSpPr>
        <p:spPr>
          <a:xfrm>
            <a:off x="868680" y="5760720"/>
            <a:ext cx="457200" cy="457200"/>
          </a:xfrm>
          <a:prstGeom prst="ellipse">
            <a:avLst/>
          </a:prstGeom>
          <a:solidFill>
            <a:srgbClr val="1E2761"/>
          </a:solidFill>
          <a:ln/>
        </p:spPr>
      </p:sp>
      <p:pic>
        <p:nvPicPr>
          <p:cNvPr id="23" name="Image 2" descr="preencoded.png">    </p:cNvPr>
          <p:cNvPicPr>
            <a:picLocks noChangeAspect="1"/>
          </p:cNvPicPr>
          <p:nvPr/>
        </p:nvPicPr>
        <p:blipFill>
          <a:blip r:embed="rId3"/>
          <a:stretch>
            <a:fillRect/>
          </a:stretch>
        </p:blipFill>
        <p:spPr>
          <a:xfrm>
            <a:off x="978408" y="5870448"/>
            <a:ext cx="237744" cy="237744"/>
          </a:xfrm>
          <a:prstGeom prst="rect">
            <a:avLst/>
          </a:prstGeom>
        </p:spPr>
      </p:pic>
      <p:sp>
        <p:nvSpPr>
          <p:cNvPr id="24" name="Text 19"/>
          <p:cNvSpPr/>
          <p:nvPr/>
        </p:nvSpPr>
        <p:spPr>
          <a:xfrm>
            <a:off x="1508760" y="5623560"/>
            <a:ext cx="9966960" cy="731520"/>
          </a:xfrm>
          <a:prstGeom prst="rect">
            <a:avLst/>
          </a:prstGeom>
          <a:noFill/>
          <a:ln/>
        </p:spPr>
        <p:txBody>
          <a:bodyPr wrap="square" lIns="0" tIns="0" rIns="0" bIns="0" rtlCol="0" anchor="ctr"/>
          <a:lstStyle/>
          <a:p>
            <a:pPr indent="0" marL="0">
              <a:buNone/>
            </a:pPr>
            <a:r>
              <a:rPr lang="en-US" sz="1550" b="1" dirty="0">
                <a:solidFill>
                  <a:srgbClr val="1E2761"/>
                </a:solidFill>
                <a:latin typeface="Calibri" pitchFamily="34" charset="0"/>
                <a:ea typeface="Calibri" pitchFamily="34" charset="-122"/>
                <a:cs typeface="Calibri" pitchFamily="34" charset="-120"/>
              </a:rPr>
              <a:t>The ask:  </a:t>
            </a:r>
            <a:pPr indent="0" marL="0">
              <a:buNone/>
            </a:pPr>
            <a:r>
              <a:rPr lang="en-US" sz="1550" dirty="0">
                <a:solidFill>
                  <a:srgbClr val="1E2761"/>
                </a:solidFill>
                <a:latin typeface="Calibri" pitchFamily="34" charset="0"/>
                <a:ea typeface="Calibri" pitchFamily="34" charset="-122"/>
                <a:cs typeface="Calibri" pitchFamily="34" charset="-120"/>
              </a:rPr>
              <a:t>green-light a 30-day pilot with [X team] to prove the Phase 1 savings.</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2026-08-09T05:29:48Z</dcterms:created>
  <dcterms:modified xsi:type="dcterms:W3CDTF">2026-08-09T05:29:48Z</dcterms:modified>
</cp:coreProperties>
</file>